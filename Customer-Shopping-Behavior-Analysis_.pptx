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F2F5FA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2F5FA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2F5FA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2F5FA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F151F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37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F151F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1597025"/>
            <a:ext cx="4211955" cy="1149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F2F5FA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2263775"/>
            <a:ext cx="5920740" cy="11303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95"/>
              </a:spcBef>
            </a:pPr>
            <a:r>
              <a:rPr dirty="0" spc="-80"/>
              <a:t>Customer</a:t>
            </a:r>
            <a:r>
              <a:rPr dirty="0" spc="-295"/>
              <a:t> </a:t>
            </a:r>
            <a:r>
              <a:rPr dirty="0" spc="-100"/>
              <a:t>Shopping</a:t>
            </a:r>
            <a:r>
              <a:rPr dirty="0" spc="-290"/>
              <a:t> </a:t>
            </a:r>
            <a:r>
              <a:rPr dirty="0" spc="-70"/>
              <a:t>Behavior </a:t>
            </a:r>
            <a:r>
              <a:rPr dirty="0" spc="-10"/>
              <a:t>Analysis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87375" y="3660140"/>
            <a:ext cx="5513070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dirty="0" sz="1350" spc="-75">
                <a:solidFill>
                  <a:srgbClr val="EBEDF0"/>
                </a:solidFill>
                <a:latin typeface="Verdana"/>
                <a:cs typeface="Verdana"/>
              </a:rPr>
              <a:t>Uncovering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BEDF0"/>
                </a:solidFill>
                <a:latin typeface="Verdana"/>
                <a:cs typeface="Verdana"/>
              </a:rPr>
              <a:t>insights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BEDF0"/>
                </a:solidFill>
                <a:latin typeface="Verdana"/>
                <a:cs typeface="Verdana"/>
              </a:rPr>
              <a:t>from</a:t>
            </a:r>
            <a:r>
              <a:rPr dirty="0" sz="1350" spc="-9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BEDF0"/>
                </a:solidFill>
                <a:latin typeface="Verdana"/>
                <a:cs typeface="Verdana"/>
              </a:rPr>
              <a:t>3,900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BEDF0"/>
                </a:solidFill>
                <a:latin typeface="Verdana"/>
                <a:cs typeface="Verdana"/>
              </a:rPr>
              <a:t>purchases</a:t>
            </a:r>
            <a:r>
              <a:rPr dirty="0" sz="1350" spc="-9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BEDF0"/>
                </a:solidFill>
                <a:latin typeface="Verdana"/>
                <a:cs typeface="Verdana"/>
              </a:rPr>
              <a:t>to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guide</a:t>
            </a:r>
            <a:r>
              <a:rPr dirty="0" sz="1350" spc="-9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BEDF0"/>
                </a:solidFill>
                <a:latin typeface="Verdana"/>
                <a:cs typeface="Verdana"/>
              </a:rPr>
              <a:t>strategic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BEDF0"/>
                </a:solidFill>
                <a:latin typeface="Verdana"/>
                <a:cs typeface="Verdana"/>
              </a:rPr>
              <a:t>business decisions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568325"/>
            <a:ext cx="364871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60"/>
              <a:t>Dataset</a:t>
            </a:r>
            <a:r>
              <a:rPr dirty="0" spc="-305"/>
              <a:t> </a:t>
            </a:r>
            <a:r>
              <a:rPr dirty="0" spc="-80"/>
              <a:t>Overview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886325" y="1400174"/>
            <a:ext cx="5943600" cy="981075"/>
            <a:chOff x="4886325" y="1400174"/>
            <a:chExt cx="5943600" cy="981075"/>
          </a:xfrm>
        </p:grpSpPr>
        <p:sp>
          <p:nvSpPr>
            <p:cNvPr id="5" name="object 5" descr=""/>
            <p:cNvSpPr/>
            <p:nvPr/>
          </p:nvSpPr>
          <p:spPr>
            <a:xfrm>
              <a:off x="4895850" y="1409699"/>
              <a:ext cx="5924550" cy="962025"/>
            </a:xfrm>
            <a:custGeom>
              <a:avLst/>
              <a:gdLst/>
              <a:ahLst/>
              <a:cxnLst/>
              <a:rect l="l" t="t" r="r" b="b"/>
              <a:pathLst>
                <a:path w="5924550" h="962025">
                  <a:moveTo>
                    <a:pt x="5877382" y="0"/>
                  </a:moveTo>
                  <a:lnTo>
                    <a:pt x="47167" y="0"/>
                  </a:lnTo>
                  <a:lnTo>
                    <a:pt x="43878" y="317"/>
                  </a:lnTo>
                  <a:lnTo>
                    <a:pt x="10350" y="19685"/>
                  </a:lnTo>
                  <a:lnTo>
                    <a:pt x="0" y="47167"/>
                  </a:lnTo>
                  <a:lnTo>
                    <a:pt x="0" y="911542"/>
                  </a:lnTo>
                  <a:lnTo>
                    <a:pt x="0" y="914857"/>
                  </a:lnTo>
                  <a:lnTo>
                    <a:pt x="17132" y="949579"/>
                  </a:lnTo>
                  <a:lnTo>
                    <a:pt x="47167" y="962025"/>
                  </a:lnTo>
                  <a:lnTo>
                    <a:pt x="5877382" y="962025"/>
                  </a:lnTo>
                  <a:lnTo>
                    <a:pt x="5912104" y="944892"/>
                  </a:lnTo>
                  <a:lnTo>
                    <a:pt x="5923572" y="921385"/>
                  </a:lnTo>
                  <a:lnTo>
                    <a:pt x="5924232" y="918146"/>
                  </a:lnTo>
                  <a:lnTo>
                    <a:pt x="5924550" y="914857"/>
                  </a:lnTo>
                  <a:lnTo>
                    <a:pt x="5924550" y="47167"/>
                  </a:lnTo>
                  <a:lnTo>
                    <a:pt x="5907417" y="12446"/>
                  </a:lnTo>
                  <a:lnTo>
                    <a:pt x="5880671" y="317"/>
                  </a:lnTo>
                  <a:lnTo>
                    <a:pt x="5877382" y="0"/>
                  </a:lnTo>
                  <a:close/>
                </a:path>
              </a:pathLst>
            </a:custGeom>
            <a:solidFill>
              <a:srgbClr val="0F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895850" y="1409699"/>
              <a:ext cx="5924550" cy="962025"/>
            </a:xfrm>
            <a:custGeom>
              <a:avLst/>
              <a:gdLst/>
              <a:ahLst/>
              <a:cxnLst/>
              <a:rect l="l" t="t" r="r" b="b"/>
              <a:pathLst>
                <a:path w="5924550" h="962025">
                  <a:moveTo>
                    <a:pt x="0" y="91154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17" y="43891"/>
                  </a:lnTo>
                  <a:lnTo>
                    <a:pt x="19685" y="10350"/>
                  </a:lnTo>
                  <a:lnTo>
                    <a:pt x="40640" y="965"/>
                  </a:lnTo>
                  <a:lnTo>
                    <a:pt x="43878" y="317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5874067" y="0"/>
                  </a:lnTo>
                  <a:lnTo>
                    <a:pt x="5877382" y="0"/>
                  </a:lnTo>
                  <a:lnTo>
                    <a:pt x="5880671" y="317"/>
                  </a:lnTo>
                  <a:lnTo>
                    <a:pt x="5883910" y="965"/>
                  </a:lnTo>
                  <a:lnTo>
                    <a:pt x="5887161" y="1612"/>
                  </a:lnTo>
                  <a:lnTo>
                    <a:pt x="5902109" y="8509"/>
                  </a:lnTo>
                  <a:lnTo>
                    <a:pt x="5904865" y="10350"/>
                  </a:lnTo>
                  <a:lnTo>
                    <a:pt x="5920701" y="31165"/>
                  </a:lnTo>
                  <a:lnTo>
                    <a:pt x="5921971" y="34226"/>
                  </a:lnTo>
                  <a:lnTo>
                    <a:pt x="5922937" y="37376"/>
                  </a:lnTo>
                  <a:lnTo>
                    <a:pt x="5923572" y="40627"/>
                  </a:lnTo>
                  <a:lnTo>
                    <a:pt x="5924232" y="43891"/>
                  </a:lnTo>
                  <a:lnTo>
                    <a:pt x="5924550" y="47167"/>
                  </a:lnTo>
                  <a:lnTo>
                    <a:pt x="5924550" y="50482"/>
                  </a:lnTo>
                  <a:lnTo>
                    <a:pt x="5924550" y="911542"/>
                  </a:lnTo>
                  <a:lnTo>
                    <a:pt x="5924550" y="914857"/>
                  </a:lnTo>
                  <a:lnTo>
                    <a:pt x="5924232" y="918146"/>
                  </a:lnTo>
                  <a:lnTo>
                    <a:pt x="5923572" y="921385"/>
                  </a:lnTo>
                  <a:lnTo>
                    <a:pt x="5922937" y="924636"/>
                  </a:lnTo>
                  <a:lnTo>
                    <a:pt x="5916041" y="939584"/>
                  </a:lnTo>
                  <a:lnTo>
                    <a:pt x="5914199" y="942340"/>
                  </a:lnTo>
                  <a:lnTo>
                    <a:pt x="5902109" y="953516"/>
                  </a:lnTo>
                  <a:lnTo>
                    <a:pt x="5899353" y="955357"/>
                  </a:lnTo>
                  <a:lnTo>
                    <a:pt x="5896444" y="956906"/>
                  </a:lnTo>
                  <a:lnTo>
                    <a:pt x="5893384" y="958176"/>
                  </a:lnTo>
                  <a:lnTo>
                    <a:pt x="5890323" y="959446"/>
                  </a:lnTo>
                  <a:lnTo>
                    <a:pt x="5887161" y="960412"/>
                  </a:lnTo>
                  <a:lnTo>
                    <a:pt x="5883910" y="961059"/>
                  </a:lnTo>
                  <a:lnTo>
                    <a:pt x="5880671" y="961694"/>
                  </a:lnTo>
                  <a:lnTo>
                    <a:pt x="5877382" y="962025"/>
                  </a:lnTo>
                  <a:lnTo>
                    <a:pt x="5874067" y="962025"/>
                  </a:lnTo>
                  <a:lnTo>
                    <a:pt x="50482" y="962025"/>
                  </a:lnTo>
                  <a:lnTo>
                    <a:pt x="47167" y="962025"/>
                  </a:lnTo>
                  <a:lnTo>
                    <a:pt x="43878" y="961694"/>
                  </a:lnTo>
                  <a:lnTo>
                    <a:pt x="40640" y="961059"/>
                  </a:lnTo>
                  <a:lnTo>
                    <a:pt x="37376" y="960412"/>
                  </a:lnTo>
                  <a:lnTo>
                    <a:pt x="34226" y="959446"/>
                  </a:lnTo>
                  <a:lnTo>
                    <a:pt x="31165" y="958176"/>
                  </a:lnTo>
                  <a:lnTo>
                    <a:pt x="28105" y="956906"/>
                  </a:lnTo>
                  <a:lnTo>
                    <a:pt x="2578" y="927798"/>
                  </a:lnTo>
                  <a:lnTo>
                    <a:pt x="965" y="921385"/>
                  </a:lnTo>
                  <a:lnTo>
                    <a:pt x="317" y="918146"/>
                  </a:lnTo>
                  <a:lnTo>
                    <a:pt x="0" y="914857"/>
                  </a:lnTo>
                  <a:lnTo>
                    <a:pt x="0" y="911542"/>
                  </a:lnTo>
                  <a:close/>
                </a:path>
              </a:pathLst>
            </a:custGeom>
            <a:ln w="19050">
              <a:solidFill>
                <a:srgbClr val="002A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064125" y="1573212"/>
            <a:ext cx="3875404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EBEDF0"/>
                </a:solidFill>
                <a:latin typeface="Tahoma"/>
                <a:cs typeface="Tahoma"/>
              </a:rPr>
              <a:t>3,900</a:t>
            </a:r>
            <a:r>
              <a:rPr dirty="0" sz="1650" spc="-75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BEDF0"/>
                </a:solidFill>
                <a:latin typeface="Tahoma"/>
                <a:cs typeface="Tahoma"/>
              </a:rPr>
              <a:t>Purchases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75">
                <a:solidFill>
                  <a:srgbClr val="EBEDF0"/>
                </a:solidFill>
                <a:latin typeface="Verdana"/>
                <a:cs typeface="Verdana"/>
              </a:rPr>
              <a:t>Transactions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BEDF0"/>
                </a:solidFill>
                <a:latin typeface="Verdana"/>
                <a:cs typeface="Verdana"/>
              </a:rPr>
              <a:t>analyzed</a:t>
            </a:r>
            <a:r>
              <a:rPr dirty="0" sz="1350" spc="-6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BEDF0"/>
                </a:solidFill>
                <a:latin typeface="Verdana"/>
                <a:cs typeface="Verdana"/>
              </a:rPr>
              <a:t>across</a:t>
            </a:r>
            <a:r>
              <a:rPr dirty="0" sz="1350" spc="-6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multiple </a:t>
            </a:r>
            <a:r>
              <a:rPr dirty="0" sz="1350" spc="-30">
                <a:solidFill>
                  <a:srgbClr val="EBEDF0"/>
                </a:solidFill>
                <a:latin typeface="Verdana"/>
                <a:cs typeface="Verdana"/>
              </a:rPr>
              <a:t>categories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886325" y="2552699"/>
            <a:ext cx="5943600" cy="990600"/>
            <a:chOff x="4886325" y="2552699"/>
            <a:chExt cx="5943600" cy="990600"/>
          </a:xfrm>
        </p:grpSpPr>
        <p:sp>
          <p:nvSpPr>
            <p:cNvPr id="9" name="object 9" descr=""/>
            <p:cNvSpPr/>
            <p:nvPr/>
          </p:nvSpPr>
          <p:spPr>
            <a:xfrm>
              <a:off x="4895850" y="2562224"/>
              <a:ext cx="5924550" cy="971550"/>
            </a:xfrm>
            <a:custGeom>
              <a:avLst/>
              <a:gdLst/>
              <a:ahLst/>
              <a:cxnLst/>
              <a:rect l="l" t="t" r="r" b="b"/>
              <a:pathLst>
                <a:path w="5924550" h="971550">
                  <a:moveTo>
                    <a:pt x="5877382" y="0"/>
                  </a:moveTo>
                  <a:lnTo>
                    <a:pt x="47167" y="0"/>
                  </a:lnTo>
                  <a:lnTo>
                    <a:pt x="43878" y="317"/>
                  </a:lnTo>
                  <a:lnTo>
                    <a:pt x="10350" y="19685"/>
                  </a:lnTo>
                  <a:lnTo>
                    <a:pt x="0" y="47167"/>
                  </a:lnTo>
                  <a:lnTo>
                    <a:pt x="0" y="921067"/>
                  </a:lnTo>
                  <a:lnTo>
                    <a:pt x="0" y="924382"/>
                  </a:lnTo>
                  <a:lnTo>
                    <a:pt x="17132" y="959104"/>
                  </a:lnTo>
                  <a:lnTo>
                    <a:pt x="47167" y="971550"/>
                  </a:lnTo>
                  <a:lnTo>
                    <a:pt x="5877382" y="971550"/>
                  </a:lnTo>
                  <a:lnTo>
                    <a:pt x="5912104" y="954417"/>
                  </a:lnTo>
                  <a:lnTo>
                    <a:pt x="5923572" y="930910"/>
                  </a:lnTo>
                  <a:lnTo>
                    <a:pt x="5924232" y="927671"/>
                  </a:lnTo>
                  <a:lnTo>
                    <a:pt x="5924550" y="924382"/>
                  </a:lnTo>
                  <a:lnTo>
                    <a:pt x="5924550" y="47167"/>
                  </a:lnTo>
                  <a:lnTo>
                    <a:pt x="5907417" y="12446"/>
                  </a:lnTo>
                  <a:lnTo>
                    <a:pt x="5880671" y="317"/>
                  </a:lnTo>
                  <a:lnTo>
                    <a:pt x="5877382" y="0"/>
                  </a:lnTo>
                  <a:close/>
                </a:path>
              </a:pathLst>
            </a:custGeom>
            <a:solidFill>
              <a:srgbClr val="0F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895850" y="2562224"/>
              <a:ext cx="5924550" cy="971550"/>
            </a:xfrm>
            <a:custGeom>
              <a:avLst/>
              <a:gdLst/>
              <a:ahLst/>
              <a:cxnLst/>
              <a:rect l="l" t="t" r="r" b="b"/>
              <a:pathLst>
                <a:path w="5924550" h="971550">
                  <a:moveTo>
                    <a:pt x="0" y="9210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17" y="43891"/>
                  </a:lnTo>
                  <a:lnTo>
                    <a:pt x="19685" y="10350"/>
                  </a:lnTo>
                  <a:lnTo>
                    <a:pt x="40640" y="965"/>
                  </a:lnTo>
                  <a:lnTo>
                    <a:pt x="43878" y="317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5874067" y="0"/>
                  </a:lnTo>
                  <a:lnTo>
                    <a:pt x="5877382" y="0"/>
                  </a:lnTo>
                  <a:lnTo>
                    <a:pt x="5880671" y="317"/>
                  </a:lnTo>
                  <a:lnTo>
                    <a:pt x="5883910" y="965"/>
                  </a:lnTo>
                  <a:lnTo>
                    <a:pt x="5887161" y="1612"/>
                  </a:lnTo>
                  <a:lnTo>
                    <a:pt x="5902109" y="8509"/>
                  </a:lnTo>
                  <a:lnTo>
                    <a:pt x="5904865" y="10350"/>
                  </a:lnTo>
                  <a:lnTo>
                    <a:pt x="5920701" y="31165"/>
                  </a:lnTo>
                  <a:lnTo>
                    <a:pt x="5921971" y="34226"/>
                  </a:lnTo>
                  <a:lnTo>
                    <a:pt x="5922937" y="37376"/>
                  </a:lnTo>
                  <a:lnTo>
                    <a:pt x="5923572" y="40627"/>
                  </a:lnTo>
                  <a:lnTo>
                    <a:pt x="5924232" y="43891"/>
                  </a:lnTo>
                  <a:lnTo>
                    <a:pt x="5924550" y="47167"/>
                  </a:lnTo>
                  <a:lnTo>
                    <a:pt x="5924550" y="50482"/>
                  </a:lnTo>
                  <a:lnTo>
                    <a:pt x="5924550" y="921067"/>
                  </a:lnTo>
                  <a:lnTo>
                    <a:pt x="5924550" y="924382"/>
                  </a:lnTo>
                  <a:lnTo>
                    <a:pt x="5924232" y="927671"/>
                  </a:lnTo>
                  <a:lnTo>
                    <a:pt x="5923572" y="930910"/>
                  </a:lnTo>
                  <a:lnTo>
                    <a:pt x="5922937" y="934161"/>
                  </a:lnTo>
                  <a:lnTo>
                    <a:pt x="5916041" y="949109"/>
                  </a:lnTo>
                  <a:lnTo>
                    <a:pt x="5914199" y="951865"/>
                  </a:lnTo>
                  <a:lnTo>
                    <a:pt x="5902109" y="963041"/>
                  </a:lnTo>
                  <a:lnTo>
                    <a:pt x="5899353" y="964882"/>
                  </a:lnTo>
                  <a:lnTo>
                    <a:pt x="5896444" y="966431"/>
                  </a:lnTo>
                  <a:lnTo>
                    <a:pt x="5893384" y="967701"/>
                  </a:lnTo>
                  <a:lnTo>
                    <a:pt x="5890323" y="968971"/>
                  </a:lnTo>
                  <a:lnTo>
                    <a:pt x="5887161" y="969937"/>
                  </a:lnTo>
                  <a:lnTo>
                    <a:pt x="5883910" y="970584"/>
                  </a:lnTo>
                  <a:lnTo>
                    <a:pt x="5880671" y="971219"/>
                  </a:lnTo>
                  <a:lnTo>
                    <a:pt x="5877382" y="971550"/>
                  </a:lnTo>
                  <a:lnTo>
                    <a:pt x="5874067" y="971550"/>
                  </a:lnTo>
                  <a:lnTo>
                    <a:pt x="50482" y="971550"/>
                  </a:lnTo>
                  <a:lnTo>
                    <a:pt x="47167" y="971550"/>
                  </a:lnTo>
                  <a:lnTo>
                    <a:pt x="43878" y="971219"/>
                  </a:lnTo>
                  <a:lnTo>
                    <a:pt x="40640" y="970584"/>
                  </a:lnTo>
                  <a:lnTo>
                    <a:pt x="37376" y="969937"/>
                  </a:lnTo>
                  <a:lnTo>
                    <a:pt x="34226" y="968971"/>
                  </a:lnTo>
                  <a:lnTo>
                    <a:pt x="31165" y="967701"/>
                  </a:lnTo>
                  <a:lnTo>
                    <a:pt x="28105" y="966431"/>
                  </a:lnTo>
                  <a:lnTo>
                    <a:pt x="2578" y="937323"/>
                  </a:lnTo>
                  <a:lnTo>
                    <a:pt x="965" y="930910"/>
                  </a:lnTo>
                  <a:lnTo>
                    <a:pt x="317" y="927671"/>
                  </a:lnTo>
                  <a:lnTo>
                    <a:pt x="0" y="924382"/>
                  </a:lnTo>
                  <a:lnTo>
                    <a:pt x="0" y="921067"/>
                  </a:lnTo>
                  <a:close/>
                </a:path>
              </a:pathLst>
            </a:custGeom>
            <a:ln w="19050">
              <a:solidFill>
                <a:srgbClr val="002A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064125" y="2725737"/>
            <a:ext cx="398716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55" b="1">
                <a:solidFill>
                  <a:srgbClr val="EBEDF0"/>
                </a:solidFill>
                <a:latin typeface="Tahoma"/>
                <a:cs typeface="Tahoma"/>
              </a:rPr>
              <a:t>18 </a:t>
            </a:r>
            <a:r>
              <a:rPr dirty="0" sz="1650" spc="-10" b="1">
                <a:solidFill>
                  <a:srgbClr val="EBEDF0"/>
                </a:solidFill>
                <a:latin typeface="Tahoma"/>
                <a:cs typeface="Tahoma"/>
              </a:rPr>
              <a:t>Features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85">
                <a:solidFill>
                  <a:srgbClr val="EBEDF0"/>
                </a:solidFill>
                <a:latin typeface="Verdana"/>
                <a:cs typeface="Verdana"/>
              </a:rPr>
              <a:t>Demographics,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BEDF0"/>
                </a:solidFill>
                <a:latin typeface="Verdana"/>
                <a:cs typeface="Verdana"/>
              </a:rPr>
              <a:t>purchase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details,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BEDF0"/>
                </a:solidFill>
                <a:latin typeface="Verdana"/>
                <a:cs typeface="Verdana"/>
              </a:rPr>
              <a:t>behavior</a:t>
            </a:r>
            <a:r>
              <a:rPr dirty="0" sz="1350" spc="-6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BEDF0"/>
                </a:solidFill>
                <a:latin typeface="Verdana"/>
                <a:cs typeface="Verdana"/>
              </a:rPr>
              <a:t>patterns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886325" y="3714750"/>
            <a:ext cx="5943600" cy="981075"/>
            <a:chOff x="4886325" y="3714750"/>
            <a:chExt cx="5943600" cy="981075"/>
          </a:xfrm>
        </p:grpSpPr>
        <p:sp>
          <p:nvSpPr>
            <p:cNvPr id="13" name="object 13" descr=""/>
            <p:cNvSpPr/>
            <p:nvPr/>
          </p:nvSpPr>
          <p:spPr>
            <a:xfrm>
              <a:off x="4895850" y="3724275"/>
              <a:ext cx="5924550" cy="962025"/>
            </a:xfrm>
            <a:custGeom>
              <a:avLst/>
              <a:gdLst/>
              <a:ahLst/>
              <a:cxnLst/>
              <a:rect l="l" t="t" r="r" b="b"/>
              <a:pathLst>
                <a:path w="5924550" h="962025">
                  <a:moveTo>
                    <a:pt x="5877382" y="0"/>
                  </a:moveTo>
                  <a:lnTo>
                    <a:pt x="47167" y="0"/>
                  </a:lnTo>
                  <a:lnTo>
                    <a:pt x="43878" y="317"/>
                  </a:lnTo>
                  <a:lnTo>
                    <a:pt x="10350" y="19685"/>
                  </a:lnTo>
                  <a:lnTo>
                    <a:pt x="0" y="47167"/>
                  </a:lnTo>
                  <a:lnTo>
                    <a:pt x="0" y="911542"/>
                  </a:lnTo>
                  <a:lnTo>
                    <a:pt x="0" y="914857"/>
                  </a:lnTo>
                  <a:lnTo>
                    <a:pt x="17132" y="949579"/>
                  </a:lnTo>
                  <a:lnTo>
                    <a:pt x="47167" y="962025"/>
                  </a:lnTo>
                  <a:lnTo>
                    <a:pt x="5877382" y="962025"/>
                  </a:lnTo>
                  <a:lnTo>
                    <a:pt x="5912104" y="944892"/>
                  </a:lnTo>
                  <a:lnTo>
                    <a:pt x="5923572" y="921385"/>
                  </a:lnTo>
                  <a:lnTo>
                    <a:pt x="5924232" y="918146"/>
                  </a:lnTo>
                  <a:lnTo>
                    <a:pt x="5924550" y="914857"/>
                  </a:lnTo>
                  <a:lnTo>
                    <a:pt x="5924550" y="47167"/>
                  </a:lnTo>
                  <a:lnTo>
                    <a:pt x="5907417" y="12446"/>
                  </a:lnTo>
                  <a:lnTo>
                    <a:pt x="5880671" y="317"/>
                  </a:lnTo>
                  <a:lnTo>
                    <a:pt x="5877382" y="0"/>
                  </a:lnTo>
                  <a:close/>
                </a:path>
              </a:pathLst>
            </a:custGeom>
            <a:solidFill>
              <a:srgbClr val="0F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895850" y="3724275"/>
              <a:ext cx="5924550" cy="962025"/>
            </a:xfrm>
            <a:custGeom>
              <a:avLst/>
              <a:gdLst/>
              <a:ahLst/>
              <a:cxnLst/>
              <a:rect l="l" t="t" r="r" b="b"/>
              <a:pathLst>
                <a:path w="5924550" h="962025">
                  <a:moveTo>
                    <a:pt x="0" y="91154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17" y="43891"/>
                  </a:lnTo>
                  <a:lnTo>
                    <a:pt x="19685" y="10350"/>
                  </a:lnTo>
                  <a:lnTo>
                    <a:pt x="40640" y="965"/>
                  </a:lnTo>
                  <a:lnTo>
                    <a:pt x="43878" y="317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5874067" y="0"/>
                  </a:lnTo>
                  <a:lnTo>
                    <a:pt x="5877382" y="0"/>
                  </a:lnTo>
                  <a:lnTo>
                    <a:pt x="5880671" y="317"/>
                  </a:lnTo>
                  <a:lnTo>
                    <a:pt x="5883910" y="965"/>
                  </a:lnTo>
                  <a:lnTo>
                    <a:pt x="5887161" y="1612"/>
                  </a:lnTo>
                  <a:lnTo>
                    <a:pt x="5902109" y="8509"/>
                  </a:lnTo>
                  <a:lnTo>
                    <a:pt x="5904865" y="10350"/>
                  </a:lnTo>
                  <a:lnTo>
                    <a:pt x="5920701" y="31165"/>
                  </a:lnTo>
                  <a:lnTo>
                    <a:pt x="5921971" y="34226"/>
                  </a:lnTo>
                  <a:lnTo>
                    <a:pt x="5922937" y="37376"/>
                  </a:lnTo>
                  <a:lnTo>
                    <a:pt x="5923572" y="40627"/>
                  </a:lnTo>
                  <a:lnTo>
                    <a:pt x="5924232" y="43891"/>
                  </a:lnTo>
                  <a:lnTo>
                    <a:pt x="5924550" y="47167"/>
                  </a:lnTo>
                  <a:lnTo>
                    <a:pt x="5924550" y="50482"/>
                  </a:lnTo>
                  <a:lnTo>
                    <a:pt x="5924550" y="911542"/>
                  </a:lnTo>
                  <a:lnTo>
                    <a:pt x="5924550" y="914857"/>
                  </a:lnTo>
                  <a:lnTo>
                    <a:pt x="5924232" y="918146"/>
                  </a:lnTo>
                  <a:lnTo>
                    <a:pt x="5923572" y="921385"/>
                  </a:lnTo>
                  <a:lnTo>
                    <a:pt x="5922937" y="924636"/>
                  </a:lnTo>
                  <a:lnTo>
                    <a:pt x="5921971" y="927798"/>
                  </a:lnTo>
                  <a:lnTo>
                    <a:pt x="5920701" y="930859"/>
                  </a:lnTo>
                  <a:lnTo>
                    <a:pt x="5919431" y="933919"/>
                  </a:lnTo>
                  <a:lnTo>
                    <a:pt x="5917882" y="936828"/>
                  </a:lnTo>
                  <a:lnTo>
                    <a:pt x="5916041" y="939584"/>
                  </a:lnTo>
                  <a:lnTo>
                    <a:pt x="5914199" y="942340"/>
                  </a:lnTo>
                  <a:lnTo>
                    <a:pt x="5902109" y="953516"/>
                  </a:lnTo>
                  <a:lnTo>
                    <a:pt x="5899353" y="955357"/>
                  </a:lnTo>
                  <a:lnTo>
                    <a:pt x="5896444" y="956906"/>
                  </a:lnTo>
                  <a:lnTo>
                    <a:pt x="5893384" y="958176"/>
                  </a:lnTo>
                  <a:lnTo>
                    <a:pt x="5890323" y="959446"/>
                  </a:lnTo>
                  <a:lnTo>
                    <a:pt x="5887161" y="960412"/>
                  </a:lnTo>
                  <a:lnTo>
                    <a:pt x="5883910" y="961059"/>
                  </a:lnTo>
                  <a:lnTo>
                    <a:pt x="5880671" y="961694"/>
                  </a:lnTo>
                  <a:lnTo>
                    <a:pt x="5877382" y="962025"/>
                  </a:lnTo>
                  <a:lnTo>
                    <a:pt x="5874067" y="962025"/>
                  </a:lnTo>
                  <a:lnTo>
                    <a:pt x="50482" y="962025"/>
                  </a:lnTo>
                  <a:lnTo>
                    <a:pt x="47167" y="962025"/>
                  </a:lnTo>
                  <a:lnTo>
                    <a:pt x="43878" y="961694"/>
                  </a:lnTo>
                  <a:lnTo>
                    <a:pt x="40640" y="961059"/>
                  </a:lnTo>
                  <a:lnTo>
                    <a:pt x="37376" y="960412"/>
                  </a:lnTo>
                  <a:lnTo>
                    <a:pt x="34226" y="959446"/>
                  </a:lnTo>
                  <a:lnTo>
                    <a:pt x="31165" y="958176"/>
                  </a:lnTo>
                  <a:lnTo>
                    <a:pt x="28105" y="956906"/>
                  </a:lnTo>
                  <a:lnTo>
                    <a:pt x="2578" y="927798"/>
                  </a:lnTo>
                  <a:lnTo>
                    <a:pt x="965" y="921385"/>
                  </a:lnTo>
                  <a:lnTo>
                    <a:pt x="317" y="918146"/>
                  </a:lnTo>
                  <a:lnTo>
                    <a:pt x="0" y="914857"/>
                  </a:lnTo>
                  <a:lnTo>
                    <a:pt x="0" y="911542"/>
                  </a:lnTo>
                  <a:close/>
                </a:path>
              </a:pathLst>
            </a:custGeom>
            <a:ln w="19050">
              <a:solidFill>
                <a:srgbClr val="002A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064125" y="3887787"/>
            <a:ext cx="326517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 b="1">
                <a:solidFill>
                  <a:srgbClr val="EBEDF0"/>
                </a:solidFill>
                <a:latin typeface="Tahoma"/>
                <a:cs typeface="Tahoma"/>
              </a:rPr>
              <a:t>50</a:t>
            </a:r>
            <a:r>
              <a:rPr dirty="0" sz="1650" spc="-170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BEDF0"/>
                </a:solidFill>
                <a:latin typeface="Tahoma"/>
                <a:cs typeface="Tahoma"/>
              </a:rPr>
              <a:t>Locations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75">
                <a:solidFill>
                  <a:srgbClr val="EBEDF0"/>
                </a:solidFill>
                <a:latin typeface="Verdana"/>
                <a:cs typeface="Verdana"/>
              </a:rPr>
              <a:t>Geographic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distribution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BEDF0"/>
                </a:solidFill>
                <a:latin typeface="Verdana"/>
                <a:cs typeface="Verdana"/>
              </a:rPr>
              <a:t>of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customer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BEDF0"/>
                </a:solidFill>
                <a:latin typeface="Verdana"/>
                <a:cs typeface="Verdana"/>
              </a:rPr>
              <a:t>base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886325" y="4867275"/>
            <a:ext cx="5943600" cy="990600"/>
            <a:chOff x="4886325" y="4867275"/>
            <a:chExt cx="5943600" cy="990600"/>
          </a:xfrm>
        </p:grpSpPr>
        <p:sp>
          <p:nvSpPr>
            <p:cNvPr id="17" name="object 17" descr=""/>
            <p:cNvSpPr/>
            <p:nvPr/>
          </p:nvSpPr>
          <p:spPr>
            <a:xfrm>
              <a:off x="4895850" y="4876800"/>
              <a:ext cx="5924550" cy="971550"/>
            </a:xfrm>
            <a:custGeom>
              <a:avLst/>
              <a:gdLst/>
              <a:ahLst/>
              <a:cxnLst/>
              <a:rect l="l" t="t" r="r" b="b"/>
              <a:pathLst>
                <a:path w="5924550" h="971550">
                  <a:moveTo>
                    <a:pt x="5877382" y="0"/>
                  </a:moveTo>
                  <a:lnTo>
                    <a:pt x="47167" y="0"/>
                  </a:lnTo>
                  <a:lnTo>
                    <a:pt x="43878" y="317"/>
                  </a:lnTo>
                  <a:lnTo>
                    <a:pt x="10350" y="19672"/>
                  </a:lnTo>
                  <a:lnTo>
                    <a:pt x="0" y="47167"/>
                  </a:lnTo>
                  <a:lnTo>
                    <a:pt x="0" y="921068"/>
                  </a:lnTo>
                  <a:lnTo>
                    <a:pt x="0" y="924382"/>
                  </a:lnTo>
                  <a:lnTo>
                    <a:pt x="17132" y="959104"/>
                  </a:lnTo>
                  <a:lnTo>
                    <a:pt x="47167" y="971551"/>
                  </a:lnTo>
                  <a:lnTo>
                    <a:pt x="5877382" y="971551"/>
                  </a:lnTo>
                  <a:lnTo>
                    <a:pt x="5912104" y="954420"/>
                  </a:lnTo>
                  <a:lnTo>
                    <a:pt x="5924550" y="924382"/>
                  </a:lnTo>
                  <a:lnTo>
                    <a:pt x="5924550" y="47167"/>
                  </a:lnTo>
                  <a:lnTo>
                    <a:pt x="5907417" y="12446"/>
                  </a:lnTo>
                  <a:lnTo>
                    <a:pt x="5880671" y="317"/>
                  </a:lnTo>
                  <a:lnTo>
                    <a:pt x="5877382" y="0"/>
                  </a:lnTo>
                  <a:close/>
                </a:path>
              </a:pathLst>
            </a:custGeom>
            <a:solidFill>
              <a:srgbClr val="0F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95850" y="4876800"/>
              <a:ext cx="5924550" cy="971550"/>
            </a:xfrm>
            <a:custGeom>
              <a:avLst/>
              <a:gdLst/>
              <a:ahLst/>
              <a:cxnLst/>
              <a:rect l="l" t="t" r="r" b="b"/>
              <a:pathLst>
                <a:path w="5924550" h="971550">
                  <a:moveTo>
                    <a:pt x="0" y="921068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17" y="43891"/>
                  </a:lnTo>
                  <a:lnTo>
                    <a:pt x="19685" y="10350"/>
                  </a:lnTo>
                  <a:lnTo>
                    <a:pt x="31165" y="3835"/>
                  </a:lnTo>
                  <a:lnTo>
                    <a:pt x="34226" y="2565"/>
                  </a:lnTo>
                  <a:lnTo>
                    <a:pt x="37376" y="1612"/>
                  </a:lnTo>
                  <a:lnTo>
                    <a:pt x="40640" y="965"/>
                  </a:lnTo>
                  <a:lnTo>
                    <a:pt x="43878" y="317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5874067" y="0"/>
                  </a:lnTo>
                  <a:lnTo>
                    <a:pt x="5877382" y="0"/>
                  </a:lnTo>
                  <a:lnTo>
                    <a:pt x="5880671" y="317"/>
                  </a:lnTo>
                  <a:lnTo>
                    <a:pt x="5883910" y="965"/>
                  </a:lnTo>
                  <a:lnTo>
                    <a:pt x="5887161" y="1612"/>
                  </a:lnTo>
                  <a:lnTo>
                    <a:pt x="5890323" y="2565"/>
                  </a:lnTo>
                  <a:lnTo>
                    <a:pt x="5893384" y="3835"/>
                  </a:lnTo>
                  <a:lnTo>
                    <a:pt x="5896444" y="5105"/>
                  </a:lnTo>
                  <a:lnTo>
                    <a:pt x="5899353" y="6667"/>
                  </a:lnTo>
                  <a:lnTo>
                    <a:pt x="5902109" y="8509"/>
                  </a:lnTo>
                  <a:lnTo>
                    <a:pt x="5904865" y="10350"/>
                  </a:lnTo>
                  <a:lnTo>
                    <a:pt x="5923572" y="40627"/>
                  </a:lnTo>
                  <a:lnTo>
                    <a:pt x="5924232" y="43891"/>
                  </a:lnTo>
                  <a:lnTo>
                    <a:pt x="5924550" y="47167"/>
                  </a:lnTo>
                  <a:lnTo>
                    <a:pt x="5924550" y="50482"/>
                  </a:lnTo>
                  <a:lnTo>
                    <a:pt x="5924550" y="921068"/>
                  </a:lnTo>
                  <a:lnTo>
                    <a:pt x="5924550" y="924382"/>
                  </a:lnTo>
                  <a:lnTo>
                    <a:pt x="5924232" y="927661"/>
                  </a:lnTo>
                  <a:lnTo>
                    <a:pt x="5923572" y="930916"/>
                  </a:lnTo>
                  <a:lnTo>
                    <a:pt x="5922937" y="934165"/>
                  </a:lnTo>
                  <a:lnTo>
                    <a:pt x="5916041" y="949112"/>
                  </a:lnTo>
                  <a:lnTo>
                    <a:pt x="5914199" y="951871"/>
                  </a:lnTo>
                  <a:lnTo>
                    <a:pt x="5893384" y="967705"/>
                  </a:lnTo>
                  <a:lnTo>
                    <a:pt x="5890323" y="968975"/>
                  </a:lnTo>
                  <a:lnTo>
                    <a:pt x="5887161" y="969933"/>
                  </a:lnTo>
                  <a:lnTo>
                    <a:pt x="5883910" y="970578"/>
                  </a:lnTo>
                  <a:lnTo>
                    <a:pt x="5880671" y="971223"/>
                  </a:lnTo>
                  <a:lnTo>
                    <a:pt x="5877382" y="971551"/>
                  </a:lnTo>
                  <a:lnTo>
                    <a:pt x="5874067" y="971551"/>
                  </a:lnTo>
                  <a:lnTo>
                    <a:pt x="50482" y="971551"/>
                  </a:lnTo>
                  <a:lnTo>
                    <a:pt x="47167" y="971551"/>
                  </a:lnTo>
                  <a:lnTo>
                    <a:pt x="43878" y="971223"/>
                  </a:lnTo>
                  <a:lnTo>
                    <a:pt x="40640" y="970578"/>
                  </a:lnTo>
                  <a:lnTo>
                    <a:pt x="37376" y="969933"/>
                  </a:lnTo>
                  <a:lnTo>
                    <a:pt x="34226" y="968975"/>
                  </a:lnTo>
                  <a:lnTo>
                    <a:pt x="31165" y="967705"/>
                  </a:lnTo>
                  <a:lnTo>
                    <a:pt x="28105" y="966435"/>
                  </a:lnTo>
                  <a:lnTo>
                    <a:pt x="2578" y="937320"/>
                  </a:lnTo>
                  <a:lnTo>
                    <a:pt x="0" y="924382"/>
                  </a:lnTo>
                  <a:lnTo>
                    <a:pt x="0" y="921068"/>
                  </a:lnTo>
                  <a:close/>
                </a:path>
              </a:pathLst>
            </a:custGeom>
            <a:ln w="19050">
              <a:solidFill>
                <a:srgbClr val="002A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5064125" y="5040313"/>
            <a:ext cx="507682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EBEDF0"/>
                </a:solidFill>
                <a:latin typeface="Tahoma"/>
                <a:cs typeface="Tahoma"/>
              </a:rPr>
              <a:t>25</a:t>
            </a:r>
            <a:r>
              <a:rPr dirty="0" sz="1650" spc="-90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BEDF0"/>
                </a:solidFill>
                <a:latin typeface="Tahoma"/>
                <a:cs typeface="Tahoma"/>
              </a:rPr>
              <a:t>Products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45">
                <a:solidFill>
                  <a:srgbClr val="EBEDF0"/>
                </a:solidFill>
                <a:latin typeface="Verdana"/>
                <a:cs typeface="Verdana"/>
              </a:rPr>
              <a:t>Across</a:t>
            </a:r>
            <a:r>
              <a:rPr dirty="0" sz="1350" spc="-8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BEDF0"/>
                </a:solidFill>
                <a:latin typeface="Verdana"/>
                <a:cs typeface="Verdana"/>
              </a:rPr>
              <a:t>4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BEDF0"/>
                </a:solidFill>
                <a:latin typeface="Verdana"/>
                <a:cs typeface="Verdana"/>
              </a:rPr>
              <a:t>categories: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BEDF0"/>
                </a:solidFill>
                <a:latin typeface="Verdana"/>
                <a:cs typeface="Verdana"/>
              </a:rPr>
              <a:t>Clothing,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Footwear,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BEDF0"/>
                </a:solidFill>
                <a:latin typeface="Verdana"/>
                <a:cs typeface="Verdana"/>
              </a:rPr>
              <a:t>Accessories,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BEDF0"/>
                </a:solidFill>
                <a:latin typeface="Verdana"/>
                <a:cs typeface="Verdana"/>
              </a:rPr>
              <a:t>Outerwear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0" name="object 20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949450"/>
            <a:ext cx="50520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80"/>
              <a:t>Customer</a:t>
            </a:r>
            <a:r>
              <a:rPr dirty="0" spc="-285"/>
              <a:t> </a:t>
            </a:r>
            <a:r>
              <a:rPr dirty="0" spc="-70"/>
              <a:t>Demographics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900263" y="2764789"/>
            <a:ext cx="1810385" cy="1482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1430">
              <a:lnSpc>
                <a:spcPct val="100000"/>
              </a:lnSpc>
              <a:spcBef>
                <a:spcPts val="105"/>
              </a:spcBef>
            </a:pPr>
            <a:r>
              <a:rPr dirty="0" sz="4450" spc="-25" b="1">
                <a:solidFill>
                  <a:srgbClr val="EBEDF0"/>
                </a:solidFill>
                <a:latin typeface="Tahoma"/>
                <a:cs typeface="Tahoma"/>
              </a:rPr>
              <a:t>44</a:t>
            </a:r>
            <a:endParaRPr sz="4450">
              <a:latin typeface="Tahoma"/>
              <a:cs typeface="Tahoma"/>
            </a:endParaRPr>
          </a:p>
          <a:p>
            <a:pPr algn="ctr" marL="4445">
              <a:lnSpc>
                <a:spcPct val="100000"/>
              </a:lnSpc>
              <a:spcBef>
                <a:spcPts val="1510"/>
              </a:spcBef>
            </a:pPr>
            <a:r>
              <a:rPr dirty="0" sz="1650" spc="-35" b="1">
                <a:solidFill>
                  <a:srgbClr val="EBEDF0"/>
                </a:solidFill>
                <a:latin typeface="Tahoma"/>
                <a:cs typeface="Tahoma"/>
              </a:rPr>
              <a:t>Average</a:t>
            </a:r>
            <a:r>
              <a:rPr dirty="0" sz="1650" spc="-125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650" spc="-25" b="1">
                <a:solidFill>
                  <a:srgbClr val="EBEDF0"/>
                </a:solidFill>
                <a:latin typeface="Tahoma"/>
                <a:cs typeface="Tahoma"/>
              </a:rPr>
              <a:t>Age</a:t>
            </a:r>
            <a:endParaRPr sz="16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020"/>
              </a:spcBef>
            </a:pP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Range:</a:t>
            </a:r>
            <a:r>
              <a:rPr dirty="0" sz="1350" spc="-10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185">
                <a:solidFill>
                  <a:srgbClr val="EBEDF0"/>
                </a:solidFill>
                <a:latin typeface="Verdana"/>
                <a:cs typeface="Verdana"/>
              </a:rPr>
              <a:t>18-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70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years</a:t>
            </a:r>
            <a:r>
              <a:rPr dirty="0" sz="1350" spc="-10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BEDF0"/>
                </a:solidFill>
                <a:latin typeface="Verdana"/>
                <a:cs typeface="Verdana"/>
              </a:rPr>
              <a:t>old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22109" y="2764789"/>
            <a:ext cx="1676400" cy="17018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6985">
              <a:lnSpc>
                <a:spcPct val="100000"/>
              </a:lnSpc>
              <a:spcBef>
                <a:spcPts val="105"/>
              </a:spcBef>
            </a:pPr>
            <a:r>
              <a:rPr dirty="0" sz="4450" spc="-790" b="1">
                <a:solidFill>
                  <a:srgbClr val="EBEDF0"/>
                </a:solidFill>
                <a:latin typeface="Tahoma"/>
                <a:cs typeface="Tahoma"/>
              </a:rPr>
              <a:t>57%</a:t>
            </a:r>
            <a:endParaRPr sz="44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1650" spc="-10" b="1">
                <a:solidFill>
                  <a:srgbClr val="EBEDF0"/>
                </a:solidFill>
                <a:latin typeface="Tahoma"/>
                <a:cs typeface="Tahoma"/>
              </a:rPr>
              <a:t>Male</a:t>
            </a:r>
            <a:r>
              <a:rPr dirty="0" sz="1650" spc="-165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BEDF0"/>
                </a:solidFill>
                <a:latin typeface="Tahoma"/>
                <a:cs typeface="Tahoma"/>
              </a:rPr>
              <a:t>Customers</a:t>
            </a:r>
            <a:endParaRPr sz="1650">
              <a:latin typeface="Tahoma"/>
              <a:cs typeface="Tahoma"/>
            </a:endParaRPr>
          </a:p>
          <a:p>
            <a:pPr algn="ctr" marL="57150" marR="53975">
              <a:lnSpc>
                <a:spcPct val="106500"/>
              </a:lnSpc>
              <a:spcBef>
                <a:spcPts val="915"/>
              </a:spcBef>
            </a:pP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2,652</a:t>
            </a:r>
            <a:r>
              <a:rPr dirty="0" sz="1350" spc="-11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BEDF0"/>
                </a:solidFill>
                <a:latin typeface="Verdana"/>
                <a:cs typeface="Verdana"/>
              </a:rPr>
              <a:t>male</a:t>
            </a:r>
            <a:r>
              <a:rPr dirty="0" sz="1350" spc="-10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BEDF0"/>
                </a:solidFill>
                <a:latin typeface="Verdana"/>
                <a:cs typeface="Verdana"/>
              </a:rPr>
              <a:t>vs</a:t>
            </a:r>
            <a:r>
              <a:rPr dirty="0" sz="1350" spc="-11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145">
                <a:solidFill>
                  <a:srgbClr val="EBEDF0"/>
                </a:solidFill>
                <a:latin typeface="Verdana"/>
                <a:cs typeface="Verdana"/>
              </a:rPr>
              <a:t>1,248 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female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BEDF0"/>
                </a:solidFill>
                <a:latin typeface="Verdana"/>
                <a:cs typeface="Verdana"/>
              </a:rPr>
              <a:t>purchases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91396" y="2764789"/>
            <a:ext cx="1842770" cy="17018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6985">
              <a:lnSpc>
                <a:spcPct val="100000"/>
              </a:lnSpc>
              <a:spcBef>
                <a:spcPts val="105"/>
              </a:spcBef>
            </a:pPr>
            <a:r>
              <a:rPr dirty="0" sz="4450" spc="-775" b="1">
                <a:solidFill>
                  <a:srgbClr val="EBEDF0"/>
                </a:solidFill>
                <a:latin typeface="Tahoma"/>
                <a:cs typeface="Tahoma"/>
              </a:rPr>
              <a:t>27%</a:t>
            </a:r>
            <a:endParaRPr sz="44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1650" spc="-25" b="1">
                <a:solidFill>
                  <a:srgbClr val="EBEDF0"/>
                </a:solidFill>
                <a:latin typeface="Tahoma"/>
                <a:cs typeface="Tahoma"/>
              </a:rPr>
              <a:t>Subscription</a:t>
            </a:r>
            <a:r>
              <a:rPr dirty="0" sz="1650" spc="-80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EBEDF0"/>
                </a:solidFill>
                <a:latin typeface="Tahoma"/>
                <a:cs typeface="Tahoma"/>
              </a:rPr>
              <a:t>Rate</a:t>
            </a:r>
            <a:endParaRPr sz="16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020"/>
              </a:spcBef>
            </a:pPr>
            <a:r>
              <a:rPr dirty="0" sz="1350" spc="-130">
                <a:solidFill>
                  <a:srgbClr val="EBEDF0"/>
                </a:solidFill>
                <a:latin typeface="Verdana"/>
                <a:cs typeface="Verdana"/>
              </a:rPr>
              <a:t>1,053</a:t>
            </a:r>
            <a:r>
              <a:rPr dirty="0" sz="1350" spc="-9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BEDF0"/>
                </a:solidFill>
                <a:latin typeface="Verdana"/>
                <a:cs typeface="Verdana"/>
              </a:rPr>
              <a:t>subscribers</a:t>
            </a:r>
            <a:r>
              <a:rPr dirty="0" sz="1350" spc="-9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BEDF0"/>
                </a:solidFill>
                <a:latin typeface="Verdana"/>
                <a:cs typeface="Verdana"/>
              </a:rPr>
              <a:t>vs</a:t>
            </a:r>
            <a:endParaRPr sz="1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350" spc="-110">
                <a:solidFill>
                  <a:srgbClr val="EBEDF0"/>
                </a:solidFill>
                <a:latin typeface="Verdana"/>
                <a:cs typeface="Verdana"/>
              </a:rPr>
              <a:t>2,847</a:t>
            </a:r>
            <a:r>
              <a:rPr dirty="0" sz="1350" spc="-9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BEDF0"/>
                </a:solidFill>
                <a:latin typeface="Verdana"/>
                <a:cs typeface="Verdana"/>
              </a:rPr>
              <a:t>non-</a:t>
            </a:r>
            <a:r>
              <a:rPr dirty="0" sz="1350" spc="-10">
                <a:solidFill>
                  <a:srgbClr val="EBEDF0"/>
                </a:solidFill>
                <a:latin typeface="Verdana"/>
                <a:cs typeface="Verdana"/>
              </a:rPr>
              <a:t>subscribers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7" name="object 7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4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0"/>
              <a:t>Revenue</a:t>
            </a:r>
            <a:r>
              <a:rPr dirty="0" spc="-310"/>
              <a:t> </a:t>
            </a:r>
            <a:r>
              <a:rPr dirty="0" spc="-120"/>
              <a:t>Insights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87375" y="2792412"/>
            <a:ext cx="2676525" cy="14363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0" b="1">
                <a:solidFill>
                  <a:srgbClr val="F2F5FA"/>
                </a:solidFill>
                <a:latin typeface="Tahoma"/>
                <a:cs typeface="Tahoma"/>
              </a:rPr>
              <a:t>Revenue</a:t>
            </a:r>
            <a:r>
              <a:rPr dirty="0" sz="1650" spc="-140" b="1">
                <a:solidFill>
                  <a:srgbClr val="F2F5FA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F2F5FA"/>
                </a:solidFill>
                <a:latin typeface="Tahoma"/>
                <a:cs typeface="Tahoma"/>
              </a:rPr>
              <a:t>by</a:t>
            </a:r>
            <a:r>
              <a:rPr dirty="0" sz="1650" spc="-135" b="1">
                <a:solidFill>
                  <a:srgbClr val="F2F5FA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F2F5FA"/>
                </a:solidFill>
                <a:latin typeface="Tahoma"/>
                <a:cs typeface="Tahoma"/>
              </a:rPr>
              <a:t>Gender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1350" spc="-20" b="1">
                <a:solidFill>
                  <a:srgbClr val="EBEDF0"/>
                </a:solidFill>
                <a:latin typeface="Tahoma"/>
                <a:cs typeface="Tahoma"/>
              </a:rPr>
              <a:t>Male:</a:t>
            </a:r>
            <a:r>
              <a:rPr dirty="0" sz="1350" spc="-45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BEDF0"/>
                </a:solidFill>
                <a:latin typeface="Verdana"/>
                <a:cs typeface="Verdana"/>
              </a:rPr>
              <a:t>$157,890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350" spc="-30" b="1">
                <a:solidFill>
                  <a:srgbClr val="EBEDF0"/>
                </a:solidFill>
                <a:latin typeface="Tahoma"/>
                <a:cs typeface="Tahoma"/>
              </a:rPr>
              <a:t>Female:</a:t>
            </a:r>
            <a:r>
              <a:rPr dirty="0" sz="1350" spc="-50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EBEDF0"/>
                </a:solidFill>
                <a:latin typeface="Verdana"/>
                <a:cs typeface="Verdana"/>
              </a:rPr>
              <a:t>$75,191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1350" spc="-35">
                <a:solidFill>
                  <a:srgbClr val="EBEDF0"/>
                </a:solidFill>
                <a:latin typeface="Verdana"/>
                <a:cs typeface="Verdana"/>
              </a:rPr>
              <a:t>Males</a:t>
            </a:r>
            <a:r>
              <a:rPr dirty="0" sz="1350" spc="-11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generate</a:t>
            </a:r>
            <a:r>
              <a:rPr dirty="0" sz="1350" spc="-10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190">
                <a:solidFill>
                  <a:srgbClr val="EBEDF0"/>
                </a:solidFill>
                <a:latin typeface="Verdana"/>
                <a:cs typeface="Verdana"/>
              </a:rPr>
              <a:t>2.1x</a:t>
            </a:r>
            <a:r>
              <a:rPr dirty="0" sz="1350" spc="-105">
                <a:solidFill>
                  <a:srgbClr val="EBEDF0"/>
                </a:solidFill>
                <a:latin typeface="Verdana"/>
                <a:cs typeface="Verdana"/>
              </a:rPr>
              <a:t> more </a:t>
            </a:r>
            <a:r>
              <a:rPr dirty="0" sz="1350" spc="-65">
                <a:solidFill>
                  <a:srgbClr val="EBEDF0"/>
                </a:solidFill>
                <a:latin typeface="Verdana"/>
                <a:cs typeface="Verdana"/>
              </a:rPr>
              <a:t>revenue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777805" y="2792412"/>
            <a:ext cx="2536825" cy="16649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0" b="1">
                <a:solidFill>
                  <a:srgbClr val="F2F5FA"/>
                </a:solidFill>
                <a:latin typeface="Tahoma"/>
                <a:cs typeface="Tahoma"/>
              </a:rPr>
              <a:t>Revenue</a:t>
            </a:r>
            <a:r>
              <a:rPr dirty="0" sz="1650" spc="-140" b="1">
                <a:solidFill>
                  <a:srgbClr val="F2F5FA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F2F5FA"/>
                </a:solidFill>
                <a:latin typeface="Tahoma"/>
                <a:cs typeface="Tahoma"/>
              </a:rPr>
              <a:t>by</a:t>
            </a:r>
            <a:r>
              <a:rPr dirty="0" sz="1650" spc="-135" b="1">
                <a:solidFill>
                  <a:srgbClr val="F2F5FA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F2F5FA"/>
                </a:solidFill>
                <a:latin typeface="Tahoma"/>
                <a:cs typeface="Tahoma"/>
              </a:rPr>
              <a:t>Subscription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1350" spc="-30" b="1">
                <a:solidFill>
                  <a:srgbClr val="EBEDF0"/>
                </a:solidFill>
                <a:latin typeface="Tahoma"/>
                <a:cs typeface="Tahoma"/>
              </a:rPr>
              <a:t>Non-</a:t>
            </a:r>
            <a:r>
              <a:rPr dirty="0" sz="1350" spc="-10" b="1">
                <a:solidFill>
                  <a:srgbClr val="EBEDF0"/>
                </a:solidFill>
                <a:latin typeface="Tahoma"/>
                <a:cs typeface="Tahoma"/>
              </a:rPr>
              <a:t>Subscribers:</a:t>
            </a:r>
            <a:r>
              <a:rPr dirty="0" sz="1350" spc="-50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BEDF0"/>
                </a:solidFill>
                <a:latin typeface="Verdana"/>
                <a:cs typeface="Verdana"/>
              </a:rPr>
              <a:t>$170,436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350" spc="-10" b="1">
                <a:solidFill>
                  <a:srgbClr val="EBEDF0"/>
                </a:solidFill>
                <a:latin typeface="Tahoma"/>
                <a:cs typeface="Tahoma"/>
              </a:rPr>
              <a:t>Subscribers:</a:t>
            </a:r>
            <a:r>
              <a:rPr dirty="0" sz="1350" spc="-20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BEDF0"/>
                </a:solidFill>
                <a:latin typeface="Verdana"/>
                <a:cs typeface="Verdana"/>
              </a:rPr>
              <a:t>$62,645</a:t>
            </a:r>
            <a:endParaRPr sz="1350">
              <a:latin typeface="Verdana"/>
              <a:cs typeface="Verdana"/>
            </a:endParaRPr>
          </a:p>
          <a:p>
            <a:pPr marL="12700" marR="335915">
              <a:lnSpc>
                <a:spcPct val="111100"/>
              </a:lnSpc>
              <a:spcBef>
                <a:spcPts val="1125"/>
              </a:spcBef>
            </a:pP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Opportunity</a:t>
            </a:r>
            <a:r>
              <a:rPr dirty="0" sz="1350" spc="-9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BEDF0"/>
                </a:solidFill>
                <a:latin typeface="Verdana"/>
                <a:cs typeface="Verdana"/>
              </a:rPr>
              <a:t>to</a:t>
            </a:r>
            <a:r>
              <a:rPr dirty="0" sz="1350" spc="-9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convert</a:t>
            </a:r>
            <a:r>
              <a:rPr dirty="0" sz="1350" spc="-8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BEDF0"/>
                </a:solidFill>
                <a:latin typeface="Verdana"/>
                <a:cs typeface="Verdana"/>
              </a:rPr>
              <a:t>non- </a:t>
            </a:r>
            <a:r>
              <a:rPr dirty="0" sz="1350" spc="-10">
                <a:solidFill>
                  <a:srgbClr val="EBEDF0"/>
                </a:solidFill>
                <a:latin typeface="Verdana"/>
                <a:cs typeface="Verdana"/>
              </a:rPr>
              <a:t>subscribers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968375"/>
            <a:ext cx="41795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80"/>
              <a:t>Customer</a:t>
            </a:r>
            <a:r>
              <a:rPr dirty="0" spc="-285"/>
              <a:t> </a:t>
            </a:r>
            <a:r>
              <a:rPr dirty="0" spc="-30"/>
              <a:t>Segments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3584" y="1865733"/>
            <a:ext cx="3597611" cy="360174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62154" y="3078162"/>
            <a:ext cx="2437130" cy="11601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EBEDF0"/>
                </a:solidFill>
                <a:latin typeface="Tahoma"/>
                <a:cs typeface="Tahoma"/>
              </a:rPr>
              <a:t>Loyal</a:t>
            </a:r>
            <a:endParaRPr sz="1650">
              <a:latin typeface="Tahoma"/>
              <a:cs typeface="Tahoma"/>
            </a:endParaRPr>
          </a:p>
          <a:p>
            <a:pPr algn="r" marL="12700" marR="8890" indent="573405">
              <a:lnSpc>
                <a:spcPct val="157400"/>
              </a:lnSpc>
              <a:spcBef>
                <a:spcPts val="90"/>
              </a:spcBef>
            </a:pPr>
            <a:r>
              <a:rPr dirty="0" sz="1350" spc="-240">
                <a:solidFill>
                  <a:srgbClr val="EBEDF0"/>
                </a:solidFill>
                <a:latin typeface="Verdana"/>
                <a:cs typeface="Verdana"/>
              </a:rPr>
              <a:t>3,116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customers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185">
                <a:solidFill>
                  <a:srgbClr val="EBEDF0"/>
                </a:solidFill>
                <a:latin typeface="Verdana"/>
                <a:cs typeface="Verdana"/>
              </a:rPr>
              <a:t>(79.9%) </a:t>
            </a:r>
            <a:r>
              <a:rPr dirty="0" sz="1350" spc="-65">
                <a:solidFill>
                  <a:srgbClr val="EBEDF0"/>
                </a:solidFill>
                <a:latin typeface="Verdana"/>
                <a:cs typeface="Verdana"/>
              </a:rPr>
              <a:t>Repeat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BEDF0"/>
                </a:solidFill>
                <a:latin typeface="Verdana"/>
                <a:cs typeface="Verdana"/>
              </a:rPr>
              <a:t>purchasers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BEDF0"/>
                </a:solidFill>
                <a:latin typeface="Verdana"/>
                <a:cs typeface="Verdana"/>
              </a:rPr>
              <a:t>with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BEDF0"/>
                </a:solidFill>
                <a:latin typeface="Verdana"/>
                <a:cs typeface="Verdana"/>
              </a:rPr>
              <a:t>strong</a:t>
            </a:r>
            <a:endParaRPr sz="1350">
              <a:latin typeface="Verdana"/>
              <a:cs typeface="Verdana"/>
            </a:endParaRPr>
          </a:p>
          <a:p>
            <a:pPr algn="r" marR="889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EBEDF0"/>
                </a:solidFill>
                <a:latin typeface="Verdana"/>
                <a:cs typeface="Verdana"/>
              </a:rPr>
              <a:t>engagement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749580" y="2230437"/>
            <a:ext cx="2012950" cy="9410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EBEDF0"/>
                </a:solidFill>
                <a:latin typeface="Tahoma"/>
                <a:cs typeface="Tahoma"/>
              </a:rPr>
              <a:t>Returning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57400"/>
              </a:lnSpc>
              <a:spcBef>
                <a:spcPts val="90"/>
              </a:spcBef>
            </a:pPr>
            <a:r>
              <a:rPr dirty="0" sz="1350" spc="-175">
                <a:solidFill>
                  <a:srgbClr val="EBEDF0"/>
                </a:solidFill>
                <a:latin typeface="Verdana"/>
                <a:cs typeface="Verdana"/>
              </a:rPr>
              <a:t>701</a:t>
            </a:r>
            <a:r>
              <a:rPr dirty="0" sz="1350" spc="-9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customers</a:t>
            </a:r>
            <a:r>
              <a:rPr dirty="0" sz="1350" spc="-8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270">
                <a:solidFill>
                  <a:srgbClr val="EBEDF0"/>
                </a:solidFill>
                <a:latin typeface="Verdana"/>
                <a:cs typeface="Verdana"/>
              </a:rPr>
              <a:t>(18%) </a:t>
            </a:r>
            <a:r>
              <a:rPr dirty="0" sz="1350" spc="-50">
                <a:solidFill>
                  <a:srgbClr val="EBEDF0"/>
                </a:solidFill>
                <a:latin typeface="Verdana"/>
                <a:cs typeface="Verdana"/>
              </a:rPr>
              <a:t>Occasional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BEDF0"/>
                </a:solidFill>
                <a:latin typeface="Verdana"/>
                <a:cs typeface="Verdana"/>
              </a:rPr>
              <a:t>repeat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buyers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749580" y="4144962"/>
            <a:ext cx="1711325" cy="9410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5" b="1">
                <a:solidFill>
                  <a:srgbClr val="EBEDF0"/>
                </a:solidFill>
                <a:latin typeface="Tahoma"/>
                <a:cs typeface="Tahoma"/>
              </a:rPr>
              <a:t>New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57400"/>
              </a:lnSpc>
              <a:spcBef>
                <a:spcPts val="90"/>
              </a:spcBef>
            </a:pPr>
            <a:r>
              <a:rPr dirty="0" sz="1350" spc="-50">
                <a:solidFill>
                  <a:srgbClr val="EBEDF0"/>
                </a:solidFill>
                <a:latin typeface="Verdana"/>
                <a:cs typeface="Verdana"/>
              </a:rPr>
              <a:t>83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customers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275">
                <a:solidFill>
                  <a:srgbClr val="EBEDF0"/>
                </a:solidFill>
                <a:latin typeface="Verdana"/>
                <a:cs typeface="Verdana"/>
              </a:rPr>
              <a:t>(2.1%)</a:t>
            </a:r>
            <a:r>
              <a:rPr dirty="0" sz="1350" spc="-60">
                <a:solidFill>
                  <a:srgbClr val="EBEDF0"/>
                </a:solidFill>
                <a:latin typeface="Verdana"/>
                <a:cs typeface="Verdana"/>
              </a:rPr>
              <a:t> First-</a:t>
            </a:r>
            <a:r>
              <a:rPr dirty="0" sz="1350" spc="-75">
                <a:solidFill>
                  <a:srgbClr val="EBEDF0"/>
                </a:solidFill>
                <a:latin typeface="Verdana"/>
                <a:cs typeface="Verdana"/>
              </a:rPr>
              <a:t>time</a:t>
            </a:r>
            <a:r>
              <a:rPr dirty="0" sz="1350" spc="-60">
                <a:solidFill>
                  <a:srgbClr val="EBEDF0"/>
                </a:solidFill>
                <a:latin typeface="Verdana"/>
                <a:cs typeface="Verdana"/>
              </a:rPr>
              <a:t> purchasers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7" name="object 7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082675"/>
            <a:ext cx="434403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5"/>
              <a:t>Product</a:t>
            </a:r>
            <a:r>
              <a:rPr dirty="0" spc="-295"/>
              <a:t> </a:t>
            </a:r>
            <a:r>
              <a:rPr dirty="0" spc="-75"/>
              <a:t>Performance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886325" y="1914524"/>
            <a:ext cx="5943600" cy="1028700"/>
            <a:chOff x="4886325" y="1914524"/>
            <a:chExt cx="5943600" cy="1028700"/>
          </a:xfrm>
        </p:grpSpPr>
        <p:sp>
          <p:nvSpPr>
            <p:cNvPr id="5" name="object 5" descr=""/>
            <p:cNvSpPr/>
            <p:nvPr/>
          </p:nvSpPr>
          <p:spPr>
            <a:xfrm>
              <a:off x="4895850" y="1924049"/>
              <a:ext cx="5924550" cy="1009650"/>
            </a:xfrm>
            <a:custGeom>
              <a:avLst/>
              <a:gdLst/>
              <a:ahLst/>
              <a:cxnLst/>
              <a:rect l="l" t="t" r="r" b="b"/>
              <a:pathLst>
                <a:path w="5924550" h="1009650">
                  <a:moveTo>
                    <a:pt x="5877382" y="0"/>
                  </a:moveTo>
                  <a:lnTo>
                    <a:pt x="47167" y="0"/>
                  </a:lnTo>
                  <a:lnTo>
                    <a:pt x="43878" y="317"/>
                  </a:lnTo>
                  <a:lnTo>
                    <a:pt x="10350" y="19685"/>
                  </a:lnTo>
                  <a:lnTo>
                    <a:pt x="0" y="47167"/>
                  </a:lnTo>
                  <a:lnTo>
                    <a:pt x="0" y="959167"/>
                  </a:lnTo>
                  <a:lnTo>
                    <a:pt x="0" y="962482"/>
                  </a:lnTo>
                  <a:lnTo>
                    <a:pt x="17132" y="997204"/>
                  </a:lnTo>
                  <a:lnTo>
                    <a:pt x="47167" y="1009650"/>
                  </a:lnTo>
                  <a:lnTo>
                    <a:pt x="5877382" y="1009650"/>
                  </a:lnTo>
                  <a:lnTo>
                    <a:pt x="5912104" y="992517"/>
                  </a:lnTo>
                  <a:lnTo>
                    <a:pt x="5923572" y="969010"/>
                  </a:lnTo>
                  <a:lnTo>
                    <a:pt x="5924232" y="965771"/>
                  </a:lnTo>
                  <a:lnTo>
                    <a:pt x="5924550" y="962482"/>
                  </a:lnTo>
                  <a:lnTo>
                    <a:pt x="5924550" y="47167"/>
                  </a:lnTo>
                  <a:lnTo>
                    <a:pt x="5907417" y="12446"/>
                  </a:lnTo>
                  <a:lnTo>
                    <a:pt x="5880671" y="317"/>
                  </a:lnTo>
                  <a:lnTo>
                    <a:pt x="5877382" y="0"/>
                  </a:lnTo>
                  <a:close/>
                </a:path>
              </a:pathLst>
            </a:custGeom>
            <a:solidFill>
              <a:srgbClr val="0F151F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895850" y="1924049"/>
              <a:ext cx="5924550" cy="1009650"/>
            </a:xfrm>
            <a:custGeom>
              <a:avLst/>
              <a:gdLst/>
              <a:ahLst/>
              <a:cxnLst/>
              <a:rect l="l" t="t" r="r" b="b"/>
              <a:pathLst>
                <a:path w="5924550" h="1009650">
                  <a:moveTo>
                    <a:pt x="0" y="9591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17" y="43891"/>
                  </a:lnTo>
                  <a:lnTo>
                    <a:pt x="19685" y="10350"/>
                  </a:lnTo>
                  <a:lnTo>
                    <a:pt x="40640" y="965"/>
                  </a:lnTo>
                  <a:lnTo>
                    <a:pt x="43878" y="317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5874067" y="0"/>
                  </a:lnTo>
                  <a:lnTo>
                    <a:pt x="5877382" y="0"/>
                  </a:lnTo>
                  <a:lnTo>
                    <a:pt x="5880671" y="317"/>
                  </a:lnTo>
                  <a:lnTo>
                    <a:pt x="5883910" y="965"/>
                  </a:lnTo>
                  <a:lnTo>
                    <a:pt x="5887161" y="1612"/>
                  </a:lnTo>
                  <a:lnTo>
                    <a:pt x="5902109" y="8509"/>
                  </a:lnTo>
                  <a:lnTo>
                    <a:pt x="5904865" y="10350"/>
                  </a:lnTo>
                  <a:lnTo>
                    <a:pt x="5920701" y="31165"/>
                  </a:lnTo>
                  <a:lnTo>
                    <a:pt x="5921971" y="34226"/>
                  </a:lnTo>
                  <a:lnTo>
                    <a:pt x="5922937" y="37376"/>
                  </a:lnTo>
                  <a:lnTo>
                    <a:pt x="5923572" y="40627"/>
                  </a:lnTo>
                  <a:lnTo>
                    <a:pt x="5924232" y="43891"/>
                  </a:lnTo>
                  <a:lnTo>
                    <a:pt x="5924550" y="47167"/>
                  </a:lnTo>
                  <a:lnTo>
                    <a:pt x="5924550" y="50482"/>
                  </a:lnTo>
                  <a:lnTo>
                    <a:pt x="5924550" y="959167"/>
                  </a:lnTo>
                  <a:lnTo>
                    <a:pt x="5924550" y="962482"/>
                  </a:lnTo>
                  <a:lnTo>
                    <a:pt x="5924232" y="965771"/>
                  </a:lnTo>
                  <a:lnTo>
                    <a:pt x="5923572" y="969010"/>
                  </a:lnTo>
                  <a:lnTo>
                    <a:pt x="5922937" y="972261"/>
                  </a:lnTo>
                  <a:lnTo>
                    <a:pt x="5916041" y="987209"/>
                  </a:lnTo>
                  <a:lnTo>
                    <a:pt x="5914199" y="989965"/>
                  </a:lnTo>
                  <a:lnTo>
                    <a:pt x="5902109" y="1001141"/>
                  </a:lnTo>
                  <a:lnTo>
                    <a:pt x="5899353" y="1002982"/>
                  </a:lnTo>
                  <a:lnTo>
                    <a:pt x="5896444" y="1004531"/>
                  </a:lnTo>
                  <a:lnTo>
                    <a:pt x="5893384" y="1005801"/>
                  </a:lnTo>
                  <a:lnTo>
                    <a:pt x="5890323" y="1007071"/>
                  </a:lnTo>
                  <a:lnTo>
                    <a:pt x="5887161" y="1008037"/>
                  </a:lnTo>
                  <a:lnTo>
                    <a:pt x="5883910" y="1008684"/>
                  </a:lnTo>
                  <a:lnTo>
                    <a:pt x="5880671" y="1009319"/>
                  </a:lnTo>
                  <a:lnTo>
                    <a:pt x="5877382" y="1009650"/>
                  </a:lnTo>
                  <a:lnTo>
                    <a:pt x="5874067" y="1009650"/>
                  </a:lnTo>
                  <a:lnTo>
                    <a:pt x="50482" y="1009650"/>
                  </a:lnTo>
                  <a:lnTo>
                    <a:pt x="47167" y="1009650"/>
                  </a:lnTo>
                  <a:lnTo>
                    <a:pt x="43878" y="1009319"/>
                  </a:lnTo>
                  <a:lnTo>
                    <a:pt x="40640" y="1008684"/>
                  </a:lnTo>
                  <a:lnTo>
                    <a:pt x="37376" y="1008037"/>
                  </a:lnTo>
                  <a:lnTo>
                    <a:pt x="34226" y="1007071"/>
                  </a:lnTo>
                  <a:lnTo>
                    <a:pt x="31165" y="1005801"/>
                  </a:lnTo>
                  <a:lnTo>
                    <a:pt x="28105" y="1004531"/>
                  </a:lnTo>
                  <a:lnTo>
                    <a:pt x="2578" y="975423"/>
                  </a:lnTo>
                  <a:lnTo>
                    <a:pt x="965" y="969010"/>
                  </a:lnTo>
                  <a:lnTo>
                    <a:pt x="317" y="965771"/>
                  </a:lnTo>
                  <a:lnTo>
                    <a:pt x="0" y="962482"/>
                  </a:lnTo>
                  <a:lnTo>
                    <a:pt x="0" y="959167"/>
                  </a:lnTo>
                  <a:close/>
                </a:path>
              </a:pathLst>
            </a:custGeom>
            <a:ln w="19050">
              <a:solidFill>
                <a:srgbClr val="002A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905375" y="1933574"/>
              <a:ext cx="676275" cy="990600"/>
            </a:xfrm>
            <a:custGeom>
              <a:avLst/>
              <a:gdLst/>
              <a:ahLst/>
              <a:cxnLst/>
              <a:rect l="l" t="t" r="r" b="b"/>
              <a:pathLst>
                <a:path w="676275" h="990600">
                  <a:moveTo>
                    <a:pt x="676275" y="0"/>
                  </a:moveTo>
                  <a:lnTo>
                    <a:pt x="35521" y="0"/>
                  </a:lnTo>
                  <a:lnTo>
                    <a:pt x="30302" y="1041"/>
                  </a:lnTo>
                  <a:lnTo>
                    <a:pt x="1041" y="30302"/>
                  </a:lnTo>
                  <a:lnTo>
                    <a:pt x="0" y="35521"/>
                  </a:lnTo>
                  <a:lnTo>
                    <a:pt x="0" y="949642"/>
                  </a:lnTo>
                  <a:lnTo>
                    <a:pt x="0" y="955078"/>
                  </a:lnTo>
                  <a:lnTo>
                    <a:pt x="30302" y="989558"/>
                  </a:lnTo>
                  <a:lnTo>
                    <a:pt x="35521" y="990600"/>
                  </a:lnTo>
                  <a:lnTo>
                    <a:pt x="676275" y="990600"/>
                  </a:lnTo>
                  <a:lnTo>
                    <a:pt x="676275" y="0"/>
                  </a:lnTo>
                  <a:close/>
                </a:path>
              </a:pathLst>
            </a:custGeom>
            <a:solidFill>
              <a:srgbClr val="0F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572125" y="1933574"/>
              <a:ext cx="19050" cy="990600"/>
            </a:xfrm>
            <a:custGeom>
              <a:avLst/>
              <a:gdLst/>
              <a:ahLst/>
              <a:cxnLst/>
              <a:rect l="l" t="t" r="r" b="b"/>
              <a:pathLst>
                <a:path w="19050" h="990600">
                  <a:moveTo>
                    <a:pt x="1905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19050" y="9906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002A7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170830" y="2244725"/>
            <a:ext cx="14097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20" b="1">
                <a:solidFill>
                  <a:srgbClr val="EBEDF0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49921" y="2087562"/>
            <a:ext cx="325691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65" b="1">
                <a:solidFill>
                  <a:srgbClr val="EBEDF0"/>
                </a:solidFill>
                <a:latin typeface="Tahoma"/>
                <a:cs typeface="Tahoma"/>
              </a:rPr>
              <a:t>Top</a:t>
            </a:r>
            <a:r>
              <a:rPr dirty="0" sz="1650" spc="-150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EBEDF0"/>
                </a:solidFill>
                <a:latin typeface="Tahoma"/>
                <a:cs typeface="Tahoma"/>
              </a:rPr>
              <a:t>Rated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75">
                <a:solidFill>
                  <a:srgbClr val="EBEDF0"/>
                </a:solidFill>
                <a:latin typeface="Verdana"/>
                <a:cs typeface="Verdana"/>
              </a:rPr>
              <a:t>Gloves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155">
                <a:solidFill>
                  <a:srgbClr val="EBEDF0"/>
                </a:solidFill>
                <a:latin typeface="Verdana"/>
                <a:cs typeface="Verdana"/>
              </a:rPr>
              <a:t>(3.86),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BEDF0"/>
                </a:solidFill>
                <a:latin typeface="Verdana"/>
                <a:cs typeface="Verdana"/>
              </a:rPr>
              <a:t>Sandals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155">
                <a:solidFill>
                  <a:srgbClr val="EBEDF0"/>
                </a:solidFill>
                <a:latin typeface="Verdana"/>
                <a:cs typeface="Verdana"/>
              </a:rPr>
              <a:t>(3.84),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BEDF0"/>
                </a:solidFill>
                <a:latin typeface="Verdana"/>
                <a:cs typeface="Verdana"/>
              </a:rPr>
              <a:t>Boots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BEDF0"/>
                </a:solidFill>
                <a:latin typeface="Verdana"/>
                <a:cs typeface="Verdana"/>
              </a:rPr>
              <a:t>(3.82)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886325" y="3114674"/>
            <a:ext cx="5943600" cy="1028700"/>
            <a:chOff x="4886325" y="3114674"/>
            <a:chExt cx="5943600" cy="1028700"/>
          </a:xfrm>
        </p:grpSpPr>
        <p:sp>
          <p:nvSpPr>
            <p:cNvPr id="12" name="object 12" descr=""/>
            <p:cNvSpPr/>
            <p:nvPr/>
          </p:nvSpPr>
          <p:spPr>
            <a:xfrm>
              <a:off x="4895850" y="3124199"/>
              <a:ext cx="5924550" cy="1009650"/>
            </a:xfrm>
            <a:custGeom>
              <a:avLst/>
              <a:gdLst/>
              <a:ahLst/>
              <a:cxnLst/>
              <a:rect l="l" t="t" r="r" b="b"/>
              <a:pathLst>
                <a:path w="5924550" h="1009650">
                  <a:moveTo>
                    <a:pt x="5877382" y="0"/>
                  </a:moveTo>
                  <a:lnTo>
                    <a:pt x="47167" y="0"/>
                  </a:lnTo>
                  <a:lnTo>
                    <a:pt x="43878" y="317"/>
                  </a:lnTo>
                  <a:lnTo>
                    <a:pt x="10350" y="19685"/>
                  </a:lnTo>
                  <a:lnTo>
                    <a:pt x="0" y="47167"/>
                  </a:lnTo>
                  <a:lnTo>
                    <a:pt x="0" y="959167"/>
                  </a:lnTo>
                  <a:lnTo>
                    <a:pt x="0" y="962482"/>
                  </a:lnTo>
                  <a:lnTo>
                    <a:pt x="17132" y="997204"/>
                  </a:lnTo>
                  <a:lnTo>
                    <a:pt x="47167" y="1009650"/>
                  </a:lnTo>
                  <a:lnTo>
                    <a:pt x="5877382" y="1009650"/>
                  </a:lnTo>
                  <a:lnTo>
                    <a:pt x="5912104" y="992517"/>
                  </a:lnTo>
                  <a:lnTo>
                    <a:pt x="5923572" y="969010"/>
                  </a:lnTo>
                  <a:lnTo>
                    <a:pt x="5924232" y="965771"/>
                  </a:lnTo>
                  <a:lnTo>
                    <a:pt x="5924550" y="962482"/>
                  </a:lnTo>
                  <a:lnTo>
                    <a:pt x="5924550" y="47167"/>
                  </a:lnTo>
                  <a:lnTo>
                    <a:pt x="5907417" y="12446"/>
                  </a:lnTo>
                  <a:lnTo>
                    <a:pt x="5880671" y="317"/>
                  </a:lnTo>
                  <a:lnTo>
                    <a:pt x="5877382" y="0"/>
                  </a:lnTo>
                  <a:close/>
                </a:path>
              </a:pathLst>
            </a:custGeom>
            <a:solidFill>
              <a:srgbClr val="0F151F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895850" y="3124199"/>
              <a:ext cx="5924550" cy="1009650"/>
            </a:xfrm>
            <a:custGeom>
              <a:avLst/>
              <a:gdLst/>
              <a:ahLst/>
              <a:cxnLst/>
              <a:rect l="l" t="t" r="r" b="b"/>
              <a:pathLst>
                <a:path w="5924550" h="1009650">
                  <a:moveTo>
                    <a:pt x="0" y="959167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17" y="43891"/>
                  </a:lnTo>
                  <a:lnTo>
                    <a:pt x="19685" y="10350"/>
                  </a:lnTo>
                  <a:lnTo>
                    <a:pt x="40640" y="965"/>
                  </a:lnTo>
                  <a:lnTo>
                    <a:pt x="43878" y="317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5874067" y="0"/>
                  </a:lnTo>
                  <a:lnTo>
                    <a:pt x="5877382" y="0"/>
                  </a:lnTo>
                  <a:lnTo>
                    <a:pt x="5880671" y="317"/>
                  </a:lnTo>
                  <a:lnTo>
                    <a:pt x="5883910" y="965"/>
                  </a:lnTo>
                  <a:lnTo>
                    <a:pt x="5887161" y="1612"/>
                  </a:lnTo>
                  <a:lnTo>
                    <a:pt x="5902109" y="8509"/>
                  </a:lnTo>
                  <a:lnTo>
                    <a:pt x="5904865" y="10350"/>
                  </a:lnTo>
                  <a:lnTo>
                    <a:pt x="5920701" y="31165"/>
                  </a:lnTo>
                  <a:lnTo>
                    <a:pt x="5921971" y="34226"/>
                  </a:lnTo>
                  <a:lnTo>
                    <a:pt x="5922937" y="37376"/>
                  </a:lnTo>
                  <a:lnTo>
                    <a:pt x="5923572" y="40627"/>
                  </a:lnTo>
                  <a:lnTo>
                    <a:pt x="5924232" y="43891"/>
                  </a:lnTo>
                  <a:lnTo>
                    <a:pt x="5924550" y="47167"/>
                  </a:lnTo>
                  <a:lnTo>
                    <a:pt x="5924550" y="50482"/>
                  </a:lnTo>
                  <a:lnTo>
                    <a:pt x="5924550" y="959167"/>
                  </a:lnTo>
                  <a:lnTo>
                    <a:pt x="5924550" y="962482"/>
                  </a:lnTo>
                  <a:lnTo>
                    <a:pt x="5924232" y="965771"/>
                  </a:lnTo>
                  <a:lnTo>
                    <a:pt x="5923572" y="969010"/>
                  </a:lnTo>
                  <a:lnTo>
                    <a:pt x="5922937" y="972261"/>
                  </a:lnTo>
                  <a:lnTo>
                    <a:pt x="5921971" y="975423"/>
                  </a:lnTo>
                  <a:lnTo>
                    <a:pt x="5920701" y="978484"/>
                  </a:lnTo>
                  <a:lnTo>
                    <a:pt x="5919431" y="981544"/>
                  </a:lnTo>
                  <a:lnTo>
                    <a:pt x="5917882" y="984453"/>
                  </a:lnTo>
                  <a:lnTo>
                    <a:pt x="5916041" y="987209"/>
                  </a:lnTo>
                  <a:lnTo>
                    <a:pt x="5914199" y="989965"/>
                  </a:lnTo>
                  <a:lnTo>
                    <a:pt x="5902109" y="1001141"/>
                  </a:lnTo>
                  <a:lnTo>
                    <a:pt x="5899353" y="1002982"/>
                  </a:lnTo>
                  <a:lnTo>
                    <a:pt x="5896444" y="1004531"/>
                  </a:lnTo>
                  <a:lnTo>
                    <a:pt x="5893384" y="1005801"/>
                  </a:lnTo>
                  <a:lnTo>
                    <a:pt x="5890323" y="1007071"/>
                  </a:lnTo>
                  <a:lnTo>
                    <a:pt x="5887161" y="1008037"/>
                  </a:lnTo>
                  <a:lnTo>
                    <a:pt x="5883910" y="1008684"/>
                  </a:lnTo>
                  <a:lnTo>
                    <a:pt x="5880671" y="1009319"/>
                  </a:lnTo>
                  <a:lnTo>
                    <a:pt x="5877382" y="1009650"/>
                  </a:lnTo>
                  <a:lnTo>
                    <a:pt x="5874067" y="1009650"/>
                  </a:lnTo>
                  <a:lnTo>
                    <a:pt x="50482" y="1009650"/>
                  </a:lnTo>
                  <a:lnTo>
                    <a:pt x="47167" y="1009650"/>
                  </a:lnTo>
                  <a:lnTo>
                    <a:pt x="43878" y="1009319"/>
                  </a:lnTo>
                  <a:lnTo>
                    <a:pt x="40640" y="1008684"/>
                  </a:lnTo>
                  <a:lnTo>
                    <a:pt x="37376" y="1008037"/>
                  </a:lnTo>
                  <a:lnTo>
                    <a:pt x="34226" y="1007071"/>
                  </a:lnTo>
                  <a:lnTo>
                    <a:pt x="31165" y="1005801"/>
                  </a:lnTo>
                  <a:lnTo>
                    <a:pt x="28105" y="1004531"/>
                  </a:lnTo>
                  <a:lnTo>
                    <a:pt x="2578" y="975423"/>
                  </a:lnTo>
                  <a:lnTo>
                    <a:pt x="965" y="969010"/>
                  </a:lnTo>
                  <a:lnTo>
                    <a:pt x="317" y="965771"/>
                  </a:lnTo>
                  <a:lnTo>
                    <a:pt x="0" y="962482"/>
                  </a:lnTo>
                  <a:lnTo>
                    <a:pt x="0" y="959167"/>
                  </a:lnTo>
                  <a:close/>
                </a:path>
              </a:pathLst>
            </a:custGeom>
            <a:ln w="19050">
              <a:solidFill>
                <a:srgbClr val="002A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905375" y="3133724"/>
              <a:ext cx="676275" cy="990600"/>
            </a:xfrm>
            <a:custGeom>
              <a:avLst/>
              <a:gdLst/>
              <a:ahLst/>
              <a:cxnLst/>
              <a:rect l="l" t="t" r="r" b="b"/>
              <a:pathLst>
                <a:path w="676275" h="990600">
                  <a:moveTo>
                    <a:pt x="676275" y="0"/>
                  </a:moveTo>
                  <a:lnTo>
                    <a:pt x="35521" y="0"/>
                  </a:lnTo>
                  <a:lnTo>
                    <a:pt x="30302" y="1041"/>
                  </a:lnTo>
                  <a:lnTo>
                    <a:pt x="1041" y="30302"/>
                  </a:lnTo>
                  <a:lnTo>
                    <a:pt x="0" y="35521"/>
                  </a:lnTo>
                  <a:lnTo>
                    <a:pt x="0" y="949642"/>
                  </a:lnTo>
                  <a:lnTo>
                    <a:pt x="0" y="955065"/>
                  </a:lnTo>
                  <a:lnTo>
                    <a:pt x="30302" y="989558"/>
                  </a:lnTo>
                  <a:lnTo>
                    <a:pt x="35521" y="990600"/>
                  </a:lnTo>
                  <a:lnTo>
                    <a:pt x="676275" y="990600"/>
                  </a:lnTo>
                  <a:lnTo>
                    <a:pt x="676275" y="0"/>
                  </a:lnTo>
                  <a:close/>
                </a:path>
              </a:pathLst>
            </a:custGeom>
            <a:solidFill>
              <a:srgbClr val="0F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572125" y="3133724"/>
              <a:ext cx="19050" cy="990600"/>
            </a:xfrm>
            <a:custGeom>
              <a:avLst/>
              <a:gdLst/>
              <a:ahLst/>
              <a:cxnLst/>
              <a:rect l="l" t="t" r="r" b="b"/>
              <a:pathLst>
                <a:path w="19050" h="990600">
                  <a:moveTo>
                    <a:pt x="1905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19050" y="9906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002A7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144642" y="3444875"/>
            <a:ext cx="19367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EBEDF0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749931" y="3287712"/>
            <a:ext cx="286956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EBEDF0"/>
                </a:solidFill>
                <a:latin typeface="Tahoma"/>
                <a:cs typeface="Tahoma"/>
              </a:rPr>
              <a:t>Best</a:t>
            </a:r>
            <a:r>
              <a:rPr dirty="0" sz="1650" spc="-100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BEDF0"/>
                </a:solidFill>
                <a:latin typeface="Tahoma"/>
                <a:cs typeface="Tahoma"/>
              </a:rPr>
              <a:t>Sellers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50">
                <a:solidFill>
                  <a:srgbClr val="EBEDF0"/>
                </a:solidFill>
                <a:latin typeface="Verdana"/>
                <a:cs typeface="Verdana"/>
              </a:rPr>
              <a:t>Blouse</a:t>
            </a:r>
            <a:r>
              <a:rPr dirty="0" sz="1350" spc="-12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260">
                <a:solidFill>
                  <a:srgbClr val="EBEDF0"/>
                </a:solidFill>
                <a:latin typeface="Verdana"/>
                <a:cs typeface="Verdana"/>
              </a:rPr>
              <a:t>(171),</a:t>
            </a:r>
            <a:r>
              <a:rPr dirty="0" sz="1350" spc="-12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BEDF0"/>
                </a:solidFill>
                <a:latin typeface="Verdana"/>
                <a:cs typeface="Verdana"/>
              </a:rPr>
              <a:t>Jewelry</a:t>
            </a:r>
            <a:r>
              <a:rPr dirty="0" sz="1350" spc="-114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260">
                <a:solidFill>
                  <a:srgbClr val="EBEDF0"/>
                </a:solidFill>
                <a:latin typeface="Verdana"/>
                <a:cs typeface="Verdana"/>
              </a:rPr>
              <a:t>(171),</a:t>
            </a:r>
            <a:r>
              <a:rPr dirty="0" sz="1350" spc="-12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BEDF0"/>
                </a:solidFill>
                <a:latin typeface="Verdana"/>
                <a:cs typeface="Verdana"/>
              </a:rPr>
              <a:t>Pants</a:t>
            </a:r>
            <a:r>
              <a:rPr dirty="0" sz="1350" spc="-12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280">
                <a:solidFill>
                  <a:srgbClr val="EBEDF0"/>
                </a:solidFill>
                <a:latin typeface="Verdana"/>
                <a:cs typeface="Verdana"/>
              </a:rPr>
              <a:t>(171)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886325" y="4314825"/>
            <a:ext cx="5943600" cy="1028700"/>
            <a:chOff x="4886325" y="4314825"/>
            <a:chExt cx="5943600" cy="1028700"/>
          </a:xfrm>
        </p:grpSpPr>
        <p:sp>
          <p:nvSpPr>
            <p:cNvPr id="19" name="object 19" descr=""/>
            <p:cNvSpPr/>
            <p:nvPr/>
          </p:nvSpPr>
          <p:spPr>
            <a:xfrm>
              <a:off x="4895850" y="4324350"/>
              <a:ext cx="5924550" cy="1009650"/>
            </a:xfrm>
            <a:custGeom>
              <a:avLst/>
              <a:gdLst/>
              <a:ahLst/>
              <a:cxnLst/>
              <a:rect l="l" t="t" r="r" b="b"/>
              <a:pathLst>
                <a:path w="5924550" h="1009650">
                  <a:moveTo>
                    <a:pt x="5877382" y="0"/>
                  </a:moveTo>
                  <a:lnTo>
                    <a:pt x="47167" y="0"/>
                  </a:lnTo>
                  <a:lnTo>
                    <a:pt x="43878" y="317"/>
                  </a:lnTo>
                  <a:lnTo>
                    <a:pt x="10350" y="19685"/>
                  </a:lnTo>
                  <a:lnTo>
                    <a:pt x="0" y="47167"/>
                  </a:lnTo>
                  <a:lnTo>
                    <a:pt x="0" y="959168"/>
                  </a:lnTo>
                  <a:lnTo>
                    <a:pt x="0" y="962482"/>
                  </a:lnTo>
                  <a:lnTo>
                    <a:pt x="17132" y="997204"/>
                  </a:lnTo>
                  <a:lnTo>
                    <a:pt x="47167" y="1009651"/>
                  </a:lnTo>
                  <a:lnTo>
                    <a:pt x="5877382" y="1009651"/>
                  </a:lnTo>
                  <a:lnTo>
                    <a:pt x="5912104" y="992520"/>
                  </a:lnTo>
                  <a:lnTo>
                    <a:pt x="5924550" y="962482"/>
                  </a:lnTo>
                  <a:lnTo>
                    <a:pt x="5924550" y="47167"/>
                  </a:lnTo>
                  <a:lnTo>
                    <a:pt x="5907417" y="12446"/>
                  </a:lnTo>
                  <a:lnTo>
                    <a:pt x="5880671" y="317"/>
                  </a:lnTo>
                  <a:lnTo>
                    <a:pt x="5877382" y="0"/>
                  </a:lnTo>
                  <a:close/>
                </a:path>
              </a:pathLst>
            </a:custGeom>
            <a:solidFill>
              <a:srgbClr val="0F151F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895850" y="4324350"/>
              <a:ext cx="5924550" cy="1009650"/>
            </a:xfrm>
            <a:custGeom>
              <a:avLst/>
              <a:gdLst/>
              <a:ahLst/>
              <a:cxnLst/>
              <a:rect l="l" t="t" r="r" b="b"/>
              <a:pathLst>
                <a:path w="5924550" h="1009650">
                  <a:moveTo>
                    <a:pt x="0" y="959168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17" y="43891"/>
                  </a:lnTo>
                  <a:lnTo>
                    <a:pt x="19685" y="10350"/>
                  </a:lnTo>
                  <a:lnTo>
                    <a:pt x="40640" y="965"/>
                  </a:lnTo>
                  <a:lnTo>
                    <a:pt x="43878" y="317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5874067" y="0"/>
                  </a:lnTo>
                  <a:lnTo>
                    <a:pt x="5877382" y="0"/>
                  </a:lnTo>
                  <a:lnTo>
                    <a:pt x="5880671" y="317"/>
                  </a:lnTo>
                  <a:lnTo>
                    <a:pt x="5883910" y="965"/>
                  </a:lnTo>
                  <a:lnTo>
                    <a:pt x="5887161" y="1612"/>
                  </a:lnTo>
                  <a:lnTo>
                    <a:pt x="5902109" y="8509"/>
                  </a:lnTo>
                  <a:lnTo>
                    <a:pt x="5904865" y="10350"/>
                  </a:lnTo>
                  <a:lnTo>
                    <a:pt x="5920701" y="31165"/>
                  </a:lnTo>
                  <a:lnTo>
                    <a:pt x="5921971" y="34226"/>
                  </a:lnTo>
                  <a:lnTo>
                    <a:pt x="5922937" y="37376"/>
                  </a:lnTo>
                  <a:lnTo>
                    <a:pt x="5923572" y="40627"/>
                  </a:lnTo>
                  <a:lnTo>
                    <a:pt x="5924232" y="43891"/>
                  </a:lnTo>
                  <a:lnTo>
                    <a:pt x="5924550" y="47167"/>
                  </a:lnTo>
                  <a:lnTo>
                    <a:pt x="5924550" y="50482"/>
                  </a:lnTo>
                  <a:lnTo>
                    <a:pt x="5924550" y="959168"/>
                  </a:lnTo>
                  <a:lnTo>
                    <a:pt x="5924550" y="962482"/>
                  </a:lnTo>
                  <a:lnTo>
                    <a:pt x="5924232" y="965766"/>
                  </a:lnTo>
                  <a:lnTo>
                    <a:pt x="5923572" y="969016"/>
                  </a:lnTo>
                  <a:lnTo>
                    <a:pt x="5922937" y="972265"/>
                  </a:lnTo>
                  <a:lnTo>
                    <a:pt x="5916041" y="987212"/>
                  </a:lnTo>
                  <a:lnTo>
                    <a:pt x="5914199" y="989971"/>
                  </a:lnTo>
                  <a:lnTo>
                    <a:pt x="5902109" y="1001138"/>
                  </a:lnTo>
                  <a:lnTo>
                    <a:pt x="5899353" y="1002983"/>
                  </a:lnTo>
                  <a:lnTo>
                    <a:pt x="5896444" y="1004535"/>
                  </a:lnTo>
                  <a:lnTo>
                    <a:pt x="5893384" y="1005805"/>
                  </a:lnTo>
                  <a:lnTo>
                    <a:pt x="5890323" y="1007075"/>
                  </a:lnTo>
                  <a:lnTo>
                    <a:pt x="5887161" y="1008033"/>
                  </a:lnTo>
                  <a:lnTo>
                    <a:pt x="5883910" y="1008678"/>
                  </a:lnTo>
                  <a:lnTo>
                    <a:pt x="5880671" y="1009323"/>
                  </a:lnTo>
                  <a:lnTo>
                    <a:pt x="5877382" y="1009651"/>
                  </a:lnTo>
                  <a:lnTo>
                    <a:pt x="5874067" y="1009651"/>
                  </a:lnTo>
                  <a:lnTo>
                    <a:pt x="50482" y="1009651"/>
                  </a:lnTo>
                  <a:lnTo>
                    <a:pt x="47167" y="1009651"/>
                  </a:lnTo>
                  <a:lnTo>
                    <a:pt x="43878" y="1009323"/>
                  </a:lnTo>
                  <a:lnTo>
                    <a:pt x="40640" y="1008678"/>
                  </a:lnTo>
                  <a:lnTo>
                    <a:pt x="37376" y="1008033"/>
                  </a:lnTo>
                  <a:lnTo>
                    <a:pt x="34226" y="1007075"/>
                  </a:lnTo>
                  <a:lnTo>
                    <a:pt x="31165" y="1005805"/>
                  </a:lnTo>
                  <a:lnTo>
                    <a:pt x="28105" y="1004535"/>
                  </a:lnTo>
                  <a:lnTo>
                    <a:pt x="8509" y="987212"/>
                  </a:lnTo>
                  <a:lnTo>
                    <a:pt x="6667" y="984459"/>
                  </a:lnTo>
                  <a:lnTo>
                    <a:pt x="0" y="962482"/>
                  </a:lnTo>
                  <a:lnTo>
                    <a:pt x="0" y="959168"/>
                  </a:lnTo>
                  <a:close/>
                </a:path>
              </a:pathLst>
            </a:custGeom>
            <a:ln w="19050">
              <a:solidFill>
                <a:srgbClr val="002A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05375" y="4333875"/>
              <a:ext cx="676275" cy="990600"/>
            </a:xfrm>
            <a:custGeom>
              <a:avLst/>
              <a:gdLst/>
              <a:ahLst/>
              <a:cxnLst/>
              <a:rect l="l" t="t" r="r" b="b"/>
              <a:pathLst>
                <a:path w="676275" h="990600">
                  <a:moveTo>
                    <a:pt x="676275" y="0"/>
                  </a:moveTo>
                  <a:lnTo>
                    <a:pt x="35521" y="0"/>
                  </a:lnTo>
                  <a:lnTo>
                    <a:pt x="30302" y="1041"/>
                  </a:lnTo>
                  <a:lnTo>
                    <a:pt x="1041" y="30302"/>
                  </a:lnTo>
                  <a:lnTo>
                    <a:pt x="0" y="35521"/>
                  </a:lnTo>
                  <a:lnTo>
                    <a:pt x="0" y="949643"/>
                  </a:lnTo>
                  <a:lnTo>
                    <a:pt x="0" y="955070"/>
                  </a:lnTo>
                  <a:lnTo>
                    <a:pt x="30302" y="989558"/>
                  </a:lnTo>
                  <a:lnTo>
                    <a:pt x="35521" y="990601"/>
                  </a:lnTo>
                  <a:lnTo>
                    <a:pt x="676275" y="990601"/>
                  </a:lnTo>
                  <a:lnTo>
                    <a:pt x="676275" y="0"/>
                  </a:lnTo>
                  <a:close/>
                </a:path>
              </a:pathLst>
            </a:custGeom>
            <a:solidFill>
              <a:srgbClr val="0F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572125" y="4333876"/>
              <a:ext cx="19050" cy="990600"/>
            </a:xfrm>
            <a:custGeom>
              <a:avLst/>
              <a:gdLst/>
              <a:ahLst/>
              <a:cxnLst/>
              <a:rect l="l" t="t" r="r" b="b"/>
              <a:pathLst>
                <a:path w="19050" h="990600">
                  <a:moveTo>
                    <a:pt x="1905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19050" y="9906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002A7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144935" y="4645025"/>
            <a:ext cx="19304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EBEDF0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749921" y="4487862"/>
            <a:ext cx="321500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5" b="1">
                <a:solidFill>
                  <a:srgbClr val="EBEDF0"/>
                </a:solidFill>
                <a:latin typeface="Tahoma"/>
                <a:cs typeface="Tahoma"/>
              </a:rPr>
              <a:t>Discount</a:t>
            </a:r>
            <a:r>
              <a:rPr dirty="0" sz="1650" spc="-95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EBEDF0"/>
                </a:solidFill>
                <a:latin typeface="Tahoma"/>
                <a:cs typeface="Tahoma"/>
              </a:rPr>
              <a:t>Heavy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Hat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185">
                <a:solidFill>
                  <a:srgbClr val="EBEDF0"/>
                </a:solidFill>
                <a:latin typeface="Verdana"/>
                <a:cs typeface="Verdana"/>
              </a:rPr>
              <a:t>(50%),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BEDF0"/>
                </a:solidFill>
                <a:latin typeface="Verdana"/>
                <a:cs typeface="Verdana"/>
              </a:rPr>
              <a:t>Sneakers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220">
                <a:solidFill>
                  <a:srgbClr val="EBEDF0"/>
                </a:solidFill>
                <a:latin typeface="Verdana"/>
                <a:cs typeface="Verdana"/>
              </a:rPr>
              <a:t>(49.7%),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BEDF0"/>
                </a:solidFill>
                <a:latin typeface="Verdana"/>
                <a:cs typeface="Verdana"/>
              </a:rPr>
              <a:t>Coat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210">
                <a:solidFill>
                  <a:srgbClr val="EBEDF0"/>
                </a:solidFill>
                <a:latin typeface="Verdana"/>
                <a:cs typeface="Verdana"/>
              </a:rPr>
              <a:t>(49.1%)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5" name="object 2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90"/>
              </a:spcBef>
            </a:pPr>
            <a:r>
              <a:rPr dirty="0" spc="-105"/>
              <a:t>Shipping</a:t>
            </a:r>
            <a:r>
              <a:rPr dirty="0" spc="-310"/>
              <a:t> </a:t>
            </a:r>
            <a:r>
              <a:rPr dirty="0" spc="-245"/>
              <a:t>&amp;</a:t>
            </a:r>
            <a:r>
              <a:rPr dirty="0" spc="-305"/>
              <a:t> </a:t>
            </a:r>
            <a:r>
              <a:rPr dirty="0" spc="-70"/>
              <a:t>Spending </a:t>
            </a:r>
            <a:r>
              <a:rPr dirty="0" spc="-10"/>
              <a:t>Patterns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87375" y="3182937"/>
            <a:ext cx="2734310" cy="14363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0" b="1">
                <a:solidFill>
                  <a:srgbClr val="F2F5FA"/>
                </a:solidFill>
                <a:latin typeface="Tahoma"/>
                <a:cs typeface="Tahoma"/>
              </a:rPr>
              <a:t>Shipping</a:t>
            </a:r>
            <a:r>
              <a:rPr dirty="0" sz="1650" spc="-100" b="1">
                <a:solidFill>
                  <a:srgbClr val="F2F5FA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F2F5FA"/>
                </a:solidFill>
                <a:latin typeface="Tahoma"/>
                <a:cs typeface="Tahoma"/>
              </a:rPr>
              <a:t>Preference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1350" spc="-20" b="1">
                <a:solidFill>
                  <a:srgbClr val="EBEDF0"/>
                </a:solidFill>
                <a:latin typeface="Tahoma"/>
                <a:cs typeface="Tahoma"/>
              </a:rPr>
              <a:t>Free</a:t>
            </a:r>
            <a:r>
              <a:rPr dirty="0" sz="1350" spc="-60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350" spc="-30" b="1">
                <a:solidFill>
                  <a:srgbClr val="EBEDF0"/>
                </a:solidFill>
                <a:latin typeface="Tahoma"/>
                <a:cs typeface="Tahoma"/>
              </a:rPr>
              <a:t>Shipping:</a:t>
            </a:r>
            <a:r>
              <a:rPr dirty="0" sz="1350" spc="-25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350" spc="-85">
                <a:solidFill>
                  <a:srgbClr val="EBEDF0"/>
                </a:solidFill>
                <a:latin typeface="Verdana"/>
                <a:cs typeface="Verdana"/>
              </a:rPr>
              <a:t>2,223</a:t>
            </a:r>
            <a:r>
              <a:rPr dirty="0" sz="1350" spc="-10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orders</a:t>
            </a:r>
            <a:r>
              <a:rPr dirty="0" sz="1350" spc="-11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185">
                <a:solidFill>
                  <a:srgbClr val="EBEDF0"/>
                </a:solidFill>
                <a:latin typeface="Verdana"/>
                <a:cs typeface="Verdana"/>
              </a:rPr>
              <a:t>(57%)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350" spc="-25" b="1">
                <a:solidFill>
                  <a:srgbClr val="EBEDF0"/>
                </a:solidFill>
                <a:latin typeface="Tahoma"/>
                <a:cs typeface="Tahoma"/>
              </a:rPr>
              <a:t>Standard: </a:t>
            </a:r>
            <a:r>
              <a:rPr dirty="0" sz="1350" spc="-75">
                <a:solidFill>
                  <a:srgbClr val="EBEDF0"/>
                </a:solidFill>
                <a:latin typeface="Verdana"/>
                <a:cs typeface="Verdana"/>
              </a:rPr>
              <a:t>675</a:t>
            </a:r>
            <a:r>
              <a:rPr dirty="0" sz="1350" spc="-10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orders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295">
                <a:solidFill>
                  <a:srgbClr val="EBEDF0"/>
                </a:solidFill>
                <a:latin typeface="Verdana"/>
                <a:cs typeface="Verdana"/>
              </a:rPr>
              <a:t>(17%)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1350" spc="-10" b="1">
                <a:solidFill>
                  <a:srgbClr val="EBEDF0"/>
                </a:solidFill>
                <a:latin typeface="Tahoma"/>
                <a:cs typeface="Tahoma"/>
              </a:rPr>
              <a:t>Express:</a:t>
            </a:r>
            <a:r>
              <a:rPr dirty="0" sz="1350" spc="-30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350" spc="-125">
                <a:solidFill>
                  <a:srgbClr val="EBEDF0"/>
                </a:solidFill>
                <a:latin typeface="Verdana"/>
                <a:cs typeface="Verdana"/>
              </a:rPr>
              <a:t>1,002</a:t>
            </a:r>
            <a:r>
              <a:rPr dirty="0" sz="1350" spc="-11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orders</a:t>
            </a:r>
            <a:r>
              <a:rPr dirty="0" sz="1350" spc="-11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BEDF0"/>
                </a:solidFill>
                <a:latin typeface="Verdana"/>
                <a:cs typeface="Verdana"/>
              </a:rPr>
              <a:t>(26%)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777805" y="3182937"/>
            <a:ext cx="2512695" cy="14363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5" b="1">
                <a:solidFill>
                  <a:srgbClr val="F2F5FA"/>
                </a:solidFill>
                <a:latin typeface="Tahoma"/>
                <a:cs typeface="Tahoma"/>
              </a:rPr>
              <a:t>Average</a:t>
            </a:r>
            <a:r>
              <a:rPr dirty="0" sz="1650" spc="-125" b="1">
                <a:solidFill>
                  <a:srgbClr val="F2F5FA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F2F5FA"/>
                </a:solidFill>
                <a:latin typeface="Tahoma"/>
                <a:cs typeface="Tahoma"/>
              </a:rPr>
              <a:t>Spend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dirty="0" sz="1350" spc="-10" b="1">
                <a:solidFill>
                  <a:srgbClr val="EBEDF0"/>
                </a:solidFill>
                <a:latin typeface="Tahoma"/>
                <a:cs typeface="Tahoma"/>
              </a:rPr>
              <a:t>Express:</a:t>
            </a:r>
            <a:r>
              <a:rPr dirty="0" sz="1350" spc="-45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BEDF0"/>
                </a:solidFill>
                <a:latin typeface="Verdana"/>
                <a:cs typeface="Verdana"/>
              </a:rPr>
              <a:t>$60.48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350" spc="-25" b="1">
                <a:solidFill>
                  <a:srgbClr val="EBEDF0"/>
                </a:solidFill>
                <a:latin typeface="Tahoma"/>
                <a:cs typeface="Tahoma"/>
              </a:rPr>
              <a:t>Standard:</a:t>
            </a:r>
            <a:r>
              <a:rPr dirty="0" sz="1350" spc="-15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EBEDF0"/>
                </a:solidFill>
                <a:latin typeface="Verdana"/>
                <a:cs typeface="Verdana"/>
              </a:rPr>
              <a:t>$58.46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1350" spc="-65">
                <a:solidFill>
                  <a:srgbClr val="EBEDF0"/>
                </a:solidFill>
                <a:latin typeface="Verdana"/>
                <a:cs typeface="Verdana"/>
              </a:rPr>
              <a:t>Express</a:t>
            </a:r>
            <a:r>
              <a:rPr dirty="0" sz="1350" spc="-10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BEDF0"/>
                </a:solidFill>
                <a:latin typeface="Verdana"/>
                <a:cs typeface="Verdana"/>
              </a:rPr>
              <a:t>users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BEDF0"/>
                </a:solidFill>
                <a:latin typeface="Verdana"/>
                <a:cs typeface="Verdana"/>
              </a:rPr>
              <a:t>spend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170">
                <a:solidFill>
                  <a:srgbClr val="EBEDF0"/>
                </a:solidFill>
                <a:latin typeface="Verdana"/>
                <a:cs typeface="Verdana"/>
              </a:rPr>
              <a:t>3.5%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BEDF0"/>
                </a:solidFill>
                <a:latin typeface="Verdana"/>
                <a:cs typeface="Verdana"/>
              </a:rPr>
              <a:t>more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7375" y="3292475"/>
            <a:ext cx="513080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90" b="1">
                <a:solidFill>
                  <a:srgbClr val="F2F5FA"/>
                </a:solidFill>
                <a:latin typeface="Tahoma"/>
                <a:cs typeface="Tahoma"/>
              </a:rPr>
              <a:t>Discount</a:t>
            </a:r>
            <a:r>
              <a:rPr dirty="0" sz="3350" spc="-300" b="1">
                <a:solidFill>
                  <a:srgbClr val="F2F5FA"/>
                </a:solidFill>
                <a:latin typeface="Tahoma"/>
                <a:cs typeface="Tahoma"/>
              </a:rPr>
              <a:t> </a:t>
            </a:r>
            <a:r>
              <a:rPr dirty="0" sz="3350" spc="-165" b="1">
                <a:solidFill>
                  <a:srgbClr val="F2F5FA"/>
                </a:solidFill>
                <a:latin typeface="Tahoma"/>
                <a:cs typeface="Tahoma"/>
              </a:rPr>
              <a:t>Impact</a:t>
            </a:r>
            <a:r>
              <a:rPr dirty="0" sz="3350" spc="-295" b="1">
                <a:solidFill>
                  <a:srgbClr val="F2F5FA"/>
                </a:solidFill>
                <a:latin typeface="Tahoma"/>
                <a:cs typeface="Tahoma"/>
              </a:rPr>
              <a:t> </a:t>
            </a:r>
            <a:r>
              <a:rPr dirty="0" sz="3350" spc="-25" b="1">
                <a:solidFill>
                  <a:srgbClr val="F2F5FA"/>
                </a:solidFill>
                <a:latin typeface="Tahoma"/>
                <a:cs typeface="Tahoma"/>
              </a:rPr>
              <a:t>Analysis</a:t>
            </a:r>
            <a:endParaRPr sz="335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600075" y="4114800"/>
            <a:ext cx="390525" cy="390525"/>
            <a:chOff x="600075" y="4114800"/>
            <a:chExt cx="390525" cy="390525"/>
          </a:xfrm>
        </p:grpSpPr>
        <p:sp>
          <p:nvSpPr>
            <p:cNvPr id="4" name="object 4" descr=""/>
            <p:cNvSpPr/>
            <p:nvPr/>
          </p:nvSpPr>
          <p:spPr>
            <a:xfrm>
              <a:off x="609600" y="4124325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324305" y="0"/>
                  </a:moveTo>
                  <a:lnTo>
                    <a:pt x="47169" y="0"/>
                  </a:lnTo>
                  <a:lnTo>
                    <a:pt x="43884" y="317"/>
                  </a:lnTo>
                  <a:lnTo>
                    <a:pt x="10347" y="19685"/>
                  </a:lnTo>
                  <a:lnTo>
                    <a:pt x="0" y="47167"/>
                  </a:lnTo>
                  <a:lnTo>
                    <a:pt x="0" y="320992"/>
                  </a:lnTo>
                  <a:lnTo>
                    <a:pt x="0" y="324307"/>
                  </a:lnTo>
                  <a:lnTo>
                    <a:pt x="17129" y="359029"/>
                  </a:lnTo>
                  <a:lnTo>
                    <a:pt x="47169" y="371475"/>
                  </a:lnTo>
                  <a:lnTo>
                    <a:pt x="324305" y="371475"/>
                  </a:lnTo>
                  <a:lnTo>
                    <a:pt x="359032" y="354342"/>
                  </a:lnTo>
                  <a:lnTo>
                    <a:pt x="371475" y="324307"/>
                  </a:lnTo>
                  <a:lnTo>
                    <a:pt x="371475" y="47167"/>
                  </a:lnTo>
                  <a:lnTo>
                    <a:pt x="354345" y="12446"/>
                  </a:lnTo>
                  <a:lnTo>
                    <a:pt x="327590" y="317"/>
                  </a:lnTo>
                  <a:lnTo>
                    <a:pt x="324305" y="0"/>
                  </a:lnTo>
                  <a:close/>
                </a:path>
              </a:pathLst>
            </a:custGeom>
            <a:solidFill>
              <a:srgbClr val="0F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9600" y="4124325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0" y="3209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22" y="43891"/>
                  </a:lnTo>
                  <a:lnTo>
                    <a:pt x="972" y="40627"/>
                  </a:lnTo>
                  <a:lnTo>
                    <a:pt x="1616" y="37376"/>
                  </a:lnTo>
                  <a:lnTo>
                    <a:pt x="2574" y="34226"/>
                  </a:lnTo>
                  <a:lnTo>
                    <a:pt x="3844" y="31165"/>
                  </a:lnTo>
                  <a:lnTo>
                    <a:pt x="5109" y="28105"/>
                  </a:lnTo>
                  <a:lnTo>
                    <a:pt x="6667" y="25196"/>
                  </a:lnTo>
                  <a:lnTo>
                    <a:pt x="37381" y="1612"/>
                  </a:lnTo>
                  <a:lnTo>
                    <a:pt x="40634" y="965"/>
                  </a:lnTo>
                  <a:lnTo>
                    <a:pt x="43884" y="317"/>
                  </a:lnTo>
                  <a:lnTo>
                    <a:pt x="47169" y="0"/>
                  </a:lnTo>
                  <a:lnTo>
                    <a:pt x="50482" y="0"/>
                  </a:lnTo>
                  <a:lnTo>
                    <a:pt x="320992" y="0"/>
                  </a:lnTo>
                  <a:lnTo>
                    <a:pt x="324305" y="0"/>
                  </a:lnTo>
                  <a:lnTo>
                    <a:pt x="327590" y="317"/>
                  </a:lnTo>
                  <a:lnTo>
                    <a:pt x="330840" y="965"/>
                  </a:lnTo>
                  <a:lnTo>
                    <a:pt x="334093" y="1612"/>
                  </a:lnTo>
                  <a:lnTo>
                    <a:pt x="349036" y="8509"/>
                  </a:lnTo>
                  <a:lnTo>
                    <a:pt x="351795" y="10350"/>
                  </a:lnTo>
                  <a:lnTo>
                    <a:pt x="367630" y="31165"/>
                  </a:lnTo>
                  <a:lnTo>
                    <a:pt x="368900" y="34226"/>
                  </a:lnTo>
                  <a:lnTo>
                    <a:pt x="369858" y="37376"/>
                  </a:lnTo>
                  <a:lnTo>
                    <a:pt x="370502" y="40627"/>
                  </a:lnTo>
                  <a:lnTo>
                    <a:pt x="371152" y="43891"/>
                  </a:lnTo>
                  <a:lnTo>
                    <a:pt x="371475" y="47167"/>
                  </a:lnTo>
                  <a:lnTo>
                    <a:pt x="371475" y="50482"/>
                  </a:lnTo>
                  <a:lnTo>
                    <a:pt x="371475" y="320992"/>
                  </a:lnTo>
                  <a:lnTo>
                    <a:pt x="371475" y="324307"/>
                  </a:lnTo>
                  <a:lnTo>
                    <a:pt x="371152" y="327596"/>
                  </a:lnTo>
                  <a:lnTo>
                    <a:pt x="370502" y="330835"/>
                  </a:lnTo>
                  <a:lnTo>
                    <a:pt x="369858" y="334086"/>
                  </a:lnTo>
                  <a:lnTo>
                    <a:pt x="368900" y="337248"/>
                  </a:lnTo>
                  <a:lnTo>
                    <a:pt x="367630" y="340309"/>
                  </a:lnTo>
                  <a:lnTo>
                    <a:pt x="366365" y="343369"/>
                  </a:lnTo>
                  <a:lnTo>
                    <a:pt x="349036" y="362966"/>
                  </a:lnTo>
                  <a:lnTo>
                    <a:pt x="346283" y="364807"/>
                  </a:lnTo>
                  <a:lnTo>
                    <a:pt x="324305" y="371475"/>
                  </a:lnTo>
                  <a:lnTo>
                    <a:pt x="320992" y="371475"/>
                  </a:lnTo>
                  <a:lnTo>
                    <a:pt x="50482" y="371475"/>
                  </a:lnTo>
                  <a:lnTo>
                    <a:pt x="47169" y="371475"/>
                  </a:lnTo>
                  <a:lnTo>
                    <a:pt x="43884" y="371157"/>
                  </a:lnTo>
                  <a:lnTo>
                    <a:pt x="40634" y="370509"/>
                  </a:lnTo>
                  <a:lnTo>
                    <a:pt x="37381" y="369862"/>
                  </a:lnTo>
                  <a:lnTo>
                    <a:pt x="6667" y="346278"/>
                  </a:lnTo>
                  <a:lnTo>
                    <a:pt x="3844" y="340309"/>
                  </a:lnTo>
                  <a:lnTo>
                    <a:pt x="2574" y="337248"/>
                  </a:lnTo>
                  <a:lnTo>
                    <a:pt x="1616" y="334086"/>
                  </a:lnTo>
                  <a:lnTo>
                    <a:pt x="972" y="330835"/>
                  </a:lnTo>
                  <a:lnTo>
                    <a:pt x="322" y="327596"/>
                  </a:lnTo>
                  <a:lnTo>
                    <a:pt x="0" y="324307"/>
                  </a:lnTo>
                  <a:lnTo>
                    <a:pt x="0" y="320992"/>
                  </a:lnTo>
                  <a:close/>
                </a:path>
              </a:pathLst>
            </a:custGeom>
            <a:ln w="19050">
              <a:solidFill>
                <a:srgbClr val="002A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144587" y="4135439"/>
            <a:ext cx="2624455" cy="11410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52400">
              <a:lnSpc>
                <a:spcPct val="109800"/>
              </a:lnSpc>
              <a:spcBef>
                <a:spcPts val="90"/>
              </a:spcBef>
            </a:pPr>
            <a:r>
              <a:rPr dirty="0" sz="1650" spc="-70" b="1">
                <a:solidFill>
                  <a:srgbClr val="EBEDF0"/>
                </a:solidFill>
                <a:latin typeface="Tahoma"/>
                <a:cs typeface="Tahoma"/>
              </a:rPr>
              <a:t>High-</a:t>
            </a:r>
            <a:r>
              <a:rPr dirty="0" sz="1650" spc="-30" b="1">
                <a:solidFill>
                  <a:srgbClr val="EBEDF0"/>
                </a:solidFill>
                <a:latin typeface="Tahoma"/>
                <a:cs typeface="Tahoma"/>
              </a:rPr>
              <a:t>Spending</a:t>
            </a:r>
            <a:r>
              <a:rPr dirty="0" sz="1650" spc="-95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EBEDF0"/>
                </a:solidFill>
                <a:latin typeface="Tahoma"/>
                <a:cs typeface="Tahoma"/>
              </a:rPr>
              <a:t>Discount </a:t>
            </a:r>
            <a:r>
              <a:rPr dirty="0" sz="1650" spc="-10" b="1">
                <a:solidFill>
                  <a:srgbClr val="EBEDF0"/>
                </a:solidFill>
                <a:latin typeface="Tahoma"/>
                <a:cs typeface="Tahoma"/>
              </a:rPr>
              <a:t>Users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11100"/>
              </a:lnSpc>
              <a:spcBef>
                <a:spcPts val="840"/>
              </a:spcBef>
            </a:pPr>
            <a:r>
              <a:rPr dirty="0" sz="1350" spc="-40">
                <a:solidFill>
                  <a:srgbClr val="EBEDF0"/>
                </a:solidFill>
                <a:latin typeface="Verdana"/>
                <a:cs typeface="Verdana"/>
              </a:rPr>
              <a:t>839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customers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BEDF0"/>
                </a:solidFill>
                <a:latin typeface="Verdana"/>
                <a:cs typeface="Verdana"/>
              </a:rPr>
              <a:t>used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BEDF0"/>
                </a:solidFill>
                <a:latin typeface="Verdana"/>
                <a:cs typeface="Verdana"/>
              </a:rPr>
              <a:t>discounts 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but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BEDF0"/>
                </a:solidFill>
                <a:latin typeface="Verdana"/>
                <a:cs typeface="Verdana"/>
              </a:rPr>
              <a:t>spent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BEDF0"/>
                </a:solidFill>
                <a:latin typeface="Verdana"/>
                <a:cs typeface="Verdana"/>
              </a:rPr>
              <a:t>above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average </a:t>
            </a:r>
            <a:r>
              <a:rPr dirty="0" sz="1350" spc="-125">
                <a:solidFill>
                  <a:srgbClr val="EBEDF0"/>
                </a:solidFill>
                <a:latin typeface="Verdana"/>
                <a:cs typeface="Verdana"/>
              </a:rPr>
              <a:t>($59.76)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086225" y="4114800"/>
            <a:ext cx="381000" cy="390525"/>
            <a:chOff x="4086225" y="4114800"/>
            <a:chExt cx="381000" cy="390525"/>
          </a:xfrm>
        </p:grpSpPr>
        <p:sp>
          <p:nvSpPr>
            <p:cNvPr id="8" name="object 8" descr=""/>
            <p:cNvSpPr/>
            <p:nvPr/>
          </p:nvSpPr>
          <p:spPr>
            <a:xfrm>
              <a:off x="4095750" y="4124325"/>
              <a:ext cx="361950" cy="371475"/>
            </a:xfrm>
            <a:custGeom>
              <a:avLst/>
              <a:gdLst/>
              <a:ahLst/>
              <a:cxnLst/>
              <a:rect l="l" t="t" r="r" b="b"/>
              <a:pathLst>
                <a:path w="361950" h="371475">
                  <a:moveTo>
                    <a:pt x="314782" y="0"/>
                  </a:moveTo>
                  <a:lnTo>
                    <a:pt x="47167" y="0"/>
                  </a:lnTo>
                  <a:lnTo>
                    <a:pt x="43878" y="317"/>
                  </a:lnTo>
                  <a:lnTo>
                    <a:pt x="10350" y="19685"/>
                  </a:lnTo>
                  <a:lnTo>
                    <a:pt x="0" y="47167"/>
                  </a:lnTo>
                  <a:lnTo>
                    <a:pt x="0" y="320992"/>
                  </a:lnTo>
                  <a:lnTo>
                    <a:pt x="0" y="324307"/>
                  </a:lnTo>
                  <a:lnTo>
                    <a:pt x="17132" y="359029"/>
                  </a:lnTo>
                  <a:lnTo>
                    <a:pt x="47167" y="371475"/>
                  </a:lnTo>
                  <a:lnTo>
                    <a:pt x="314782" y="371475"/>
                  </a:lnTo>
                  <a:lnTo>
                    <a:pt x="349504" y="354342"/>
                  </a:lnTo>
                  <a:lnTo>
                    <a:pt x="360972" y="330835"/>
                  </a:lnTo>
                  <a:lnTo>
                    <a:pt x="361632" y="327596"/>
                  </a:lnTo>
                  <a:lnTo>
                    <a:pt x="361950" y="324307"/>
                  </a:lnTo>
                  <a:lnTo>
                    <a:pt x="361950" y="47167"/>
                  </a:lnTo>
                  <a:lnTo>
                    <a:pt x="344817" y="12446"/>
                  </a:lnTo>
                  <a:lnTo>
                    <a:pt x="318071" y="317"/>
                  </a:lnTo>
                  <a:lnTo>
                    <a:pt x="314782" y="0"/>
                  </a:lnTo>
                  <a:close/>
                </a:path>
              </a:pathLst>
            </a:custGeom>
            <a:solidFill>
              <a:srgbClr val="0F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095750" y="4124325"/>
              <a:ext cx="361950" cy="371475"/>
            </a:xfrm>
            <a:custGeom>
              <a:avLst/>
              <a:gdLst/>
              <a:ahLst/>
              <a:cxnLst/>
              <a:rect l="l" t="t" r="r" b="b"/>
              <a:pathLst>
                <a:path w="361950" h="371475">
                  <a:moveTo>
                    <a:pt x="0" y="3209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17" y="43891"/>
                  </a:lnTo>
                  <a:lnTo>
                    <a:pt x="19685" y="10350"/>
                  </a:lnTo>
                  <a:lnTo>
                    <a:pt x="40640" y="965"/>
                  </a:lnTo>
                  <a:lnTo>
                    <a:pt x="43878" y="317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11467" y="0"/>
                  </a:lnTo>
                  <a:lnTo>
                    <a:pt x="314782" y="0"/>
                  </a:lnTo>
                  <a:lnTo>
                    <a:pt x="318071" y="317"/>
                  </a:lnTo>
                  <a:lnTo>
                    <a:pt x="321310" y="965"/>
                  </a:lnTo>
                  <a:lnTo>
                    <a:pt x="324561" y="1612"/>
                  </a:lnTo>
                  <a:lnTo>
                    <a:pt x="339509" y="8509"/>
                  </a:lnTo>
                  <a:lnTo>
                    <a:pt x="342265" y="10350"/>
                  </a:lnTo>
                  <a:lnTo>
                    <a:pt x="358101" y="31165"/>
                  </a:lnTo>
                  <a:lnTo>
                    <a:pt x="359371" y="34226"/>
                  </a:lnTo>
                  <a:lnTo>
                    <a:pt x="360337" y="37376"/>
                  </a:lnTo>
                  <a:lnTo>
                    <a:pt x="360972" y="40627"/>
                  </a:lnTo>
                  <a:lnTo>
                    <a:pt x="361632" y="43891"/>
                  </a:lnTo>
                  <a:lnTo>
                    <a:pt x="361950" y="47167"/>
                  </a:lnTo>
                  <a:lnTo>
                    <a:pt x="361950" y="50482"/>
                  </a:lnTo>
                  <a:lnTo>
                    <a:pt x="361950" y="320992"/>
                  </a:lnTo>
                  <a:lnTo>
                    <a:pt x="361950" y="324307"/>
                  </a:lnTo>
                  <a:lnTo>
                    <a:pt x="361632" y="327596"/>
                  </a:lnTo>
                  <a:lnTo>
                    <a:pt x="360972" y="330835"/>
                  </a:lnTo>
                  <a:lnTo>
                    <a:pt x="360337" y="334086"/>
                  </a:lnTo>
                  <a:lnTo>
                    <a:pt x="359371" y="337248"/>
                  </a:lnTo>
                  <a:lnTo>
                    <a:pt x="358101" y="340309"/>
                  </a:lnTo>
                  <a:lnTo>
                    <a:pt x="356844" y="343369"/>
                  </a:lnTo>
                  <a:lnTo>
                    <a:pt x="339509" y="362966"/>
                  </a:lnTo>
                  <a:lnTo>
                    <a:pt x="336753" y="364807"/>
                  </a:lnTo>
                  <a:lnTo>
                    <a:pt x="333844" y="366356"/>
                  </a:lnTo>
                  <a:lnTo>
                    <a:pt x="330784" y="367626"/>
                  </a:lnTo>
                  <a:lnTo>
                    <a:pt x="327723" y="368896"/>
                  </a:lnTo>
                  <a:lnTo>
                    <a:pt x="324561" y="369862"/>
                  </a:lnTo>
                  <a:lnTo>
                    <a:pt x="321310" y="370509"/>
                  </a:lnTo>
                  <a:lnTo>
                    <a:pt x="318071" y="371144"/>
                  </a:lnTo>
                  <a:lnTo>
                    <a:pt x="314782" y="371475"/>
                  </a:lnTo>
                  <a:lnTo>
                    <a:pt x="311467" y="371475"/>
                  </a:lnTo>
                  <a:lnTo>
                    <a:pt x="50482" y="371475"/>
                  </a:lnTo>
                  <a:lnTo>
                    <a:pt x="47167" y="371475"/>
                  </a:lnTo>
                  <a:lnTo>
                    <a:pt x="43878" y="371157"/>
                  </a:lnTo>
                  <a:lnTo>
                    <a:pt x="40640" y="370509"/>
                  </a:lnTo>
                  <a:lnTo>
                    <a:pt x="37376" y="369862"/>
                  </a:lnTo>
                  <a:lnTo>
                    <a:pt x="34226" y="368896"/>
                  </a:lnTo>
                  <a:lnTo>
                    <a:pt x="31165" y="367626"/>
                  </a:lnTo>
                  <a:lnTo>
                    <a:pt x="28105" y="366356"/>
                  </a:lnTo>
                  <a:lnTo>
                    <a:pt x="2578" y="337248"/>
                  </a:lnTo>
                  <a:lnTo>
                    <a:pt x="965" y="330835"/>
                  </a:lnTo>
                  <a:lnTo>
                    <a:pt x="317" y="327596"/>
                  </a:lnTo>
                  <a:lnTo>
                    <a:pt x="0" y="324307"/>
                  </a:lnTo>
                  <a:lnTo>
                    <a:pt x="0" y="320992"/>
                  </a:lnTo>
                  <a:close/>
                </a:path>
              </a:pathLst>
            </a:custGeom>
            <a:ln w="19050">
              <a:solidFill>
                <a:srgbClr val="002A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725040" y="4134992"/>
            <a:ext cx="364871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467735" algn="l"/>
              </a:tabLst>
            </a:pPr>
            <a:r>
              <a:rPr dirty="0" sz="2000" spc="-420" b="1">
                <a:solidFill>
                  <a:srgbClr val="EBEDF0"/>
                </a:solidFill>
                <a:latin typeface="Tahoma"/>
                <a:cs typeface="Tahoma"/>
              </a:rPr>
              <a:t>1</a:t>
            </a:r>
            <a:r>
              <a:rPr dirty="0" sz="2000" b="1">
                <a:solidFill>
                  <a:srgbClr val="EBEDF0"/>
                </a:solidFill>
                <a:latin typeface="Tahoma"/>
                <a:cs typeface="Tahoma"/>
              </a:rPr>
              <a:t>	</a:t>
            </a:r>
            <a:r>
              <a:rPr dirty="0" sz="2000" spc="-50" b="1">
                <a:solidFill>
                  <a:srgbClr val="EBEDF0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25971" y="4154489"/>
            <a:ext cx="2707005" cy="8362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5" b="1">
                <a:solidFill>
                  <a:srgbClr val="EBEDF0"/>
                </a:solidFill>
                <a:latin typeface="Tahoma"/>
                <a:cs typeface="Tahoma"/>
              </a:rPr>
              <a:t>Discount</a:t>
            </a:r>
            <a:r>
              <a:rPr dirty="0" sz="1650" spc="-95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BEDF0"/>
                </a:solidFill>
                <a:latin typeface="Tahoma"/>
                <a:cs typeface="Tahoma"/>
              </a:rPr>
              <a:t>Dependency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06500"/>
              </a:lnSpc>
              <a:spcBef>
                <a:spcPts val="915"/>
              </a:spcBef>
            </a:pPr>
            <a:r>
              <a:rPr dirty="0" sz="1350" spc="-35">
                <a:solidFill>
                  <a:srgbClr val="EBEDF0"/>
                </a:solidFill>
                <a:latin typeface="Verdana"/>
                <a:cs typeface="Verdana"/>
              </a:rPr>
              <a:t>5</a:t>
            </a:r>
            <a:r>
              <a:rPr dirty="0" sz="1350" spc="-10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BEDF0"/>
                </a:solidFill>
                <a:latin typeface="Verdana"/>
                <a:cs typeface="Verdana"/>
              </a:rPr>
              <a:t>products</a:t>
            </a:r>
            <a:r>
              <a:rPr dirty="0" sz="1350" spc="-10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BEDF0"/>
                </a:solidFill>
                <a:latin typeface="Verdana"/>
                <a:cs typeface="Verdana"/>
              </a:rPr>
              <a:t>show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120">
                <a:solidFill>
                  <a:srgbClr val="EBEDF0"/>
                </a:solidFill>
                <a:latin typeface="Verdana"/>
                <a:cs typeface="Verdana"/>
              </a:rPr>
              <a:t>47-</a:t>
            </a:r>
            <a:r>
              <a:rPr dirty="0" sz="1350" spc="-125">
                <a:solidFill>
                  <a:srgbClr val="EBEDF0"/>
                </a:solidFill>
                <a:latin typeface="Verdana"/>
                <a:cs typeface="Verdana"/>
              </a:rPr>
              <a:t>50%</a:t>
            </a:r>
            <a:r>
              <a:rPr dirty="0" sz="1350" spc="-10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BEDF0"/>
                </a:solidFill>
                <a:latin typeface="Verdana"/>
                <a:cs typeface="Verdana"/>
              </a:rPr>
              <a:t>discount 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rates,</a:t>
            </a:r>
            <a:r>
              <a:rPr dirty="0" sz="1350" spc="-9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BEDF0"/>
                </a:solidFill>
                <a:latin typeface="Verdana"/>
                <a:cs typeface="Verdana"/>
              </a:rPr>
              <a:t>indicating</a:t>
            </a:r>
            <a:r>
              <a:rPr dirty="0" sz="1350" spc="-8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margin</a:t>
            </a:r>
            <a:r>
              <a:rPr dirty="0" sz="1350" spc="-9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BEDF0"/>
                </a:solidFill>
                <a:latin typeface="Verdana"/>
                <a:cs typeface="Verdana"/>
              </a:rPr>
              <a:t>pressure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562850" y="4114800"/>
            <a:ext cx="390525" cy="390525"/>
            <a:chOff x="7562850" y="4114800"/>
            <a:chExt cx="390525" cy="390525"/>
          </a:xfrm>
        </p:grpSpPr>
        <p:sp>
          <p:nvSpPr>
            <p:cNvPr id="13" name="object 13" descr=""/>
            <p:cNvSpPr/>
            <p:nvPr/>
          </p:nvSpPr>
          <p:spPr>
            <a:xfrm>
              <a:off x="7572375" y="4124325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324307" y="0"/>
                  </a:moveTo>
                  <a:lnTo>
                    <a:pt x="47167" y="0"/>
                  </a:lnTo>
                  <a:lnTo>
                    <a:pt x="43878" y="317"/>
                  </a:lnTo>
                  <a:lnTo>
                    <a:pt x="10350" y="19685"/>
                  </a:lnTo>
                  <a:lnTo>
                    <a:pt x="0" y="47167"/>
                  </a:lnTo>
                  <a:lnTo>
                    <a:pt x="0" y="320992"/>
                  </a:lnTo>
                  <a:lnTo>
                    <a:pt x="0" y="324307"/>
                  </a:lnTo>
                  <a:lnTo>
                    <a:pt x="17132" y="359029"/>
                  </a:lnTo>
                  <a:lnTo>
                    <a:pt x="47167" y="371475"/>
                  </a:lnTo>
                  <a:lnTo>
                    <a:pt x="324307" y="371475"/>
                  </a:lnTo>
                  <a:lnTo>
                    <a:pt x="359029" y="354342"/>
                  </a:lnTo>
                  <a:lnTo>
                    <a:pt x="370497" y="330835"/>
                  </a:lnTo>
                  <a:lnTo>
                    <a:pt x="371157" y="327596"/>
                  </a:lnTo>
                  <a:lnTo>
                    <a:pt x="371475" y="324307"/>
                  </a:lnTo>
                  <a:lnTo>
                    <a:pt x="371475" y="47167"/>
                  </a:lnTo>
                  <a:lnTo>
                    <a:pt x="354342" y="12446"/>
                  </a:lnTo>
                  <a:lnTo>
                    <a:pt x="327596" y="317"/>
                  </a:lnTo>
                  <a:lnTo>
                    <a:pt x="324307" y="0"/>
                  </a:lnTo>
                  <a:close/>
                </a:path>
              </a:pathLst>
            </a:custGeom>
            <a:solidFill>
              <a:srgbClr val="0F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572375" y="4124325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0" y="320992"/>
                  </a:moveTo>
                  <a:lnTo>
                    <a:pt x="0" y="50482"/>
                  </a:lnTo>
                  <a:lnTo>
                    <a:pt x="0" y="47167"/>
                  </a:lnTo>
                  <a:lnTo>
                    <a:pt x="317" y="43891"/>
                  </a:lnTo>
                  <a:lnTo>
                    <a:pt x="19685" y="10350"/>
                  </a:lnTo>
                  <a:lnTo>
                    <a:pt x="40640" y="965"/>
                  </a:lnTo>
                  <a:lnTo>
                    <a:pt x="43878" y="317"/>
                  </a:lnTo>
                  <a:lnTo>
                    <a:pt x="47167" y="0"/>
                  </a:lnTo>
                  <a:lnTo>
                    <a:pt x="50482" y="0"/>
                  </a:lnTo>
                  <a:lnTo>
                    <a:pt x="320992" y="0"/>
                  </a:lnTo>
                  <a:lnTo>
                    <a:pt x="324307" y="0"/>
                  </a:lnTo>
                  <a:lnTo>
                    <a:pt x="327596" y="317"/>
                  </a:lnTo>
                  <a:lnTo>
                    <a:pt x="330835" y="965"/>
                  </a:lnTo>
                  <a:lnTo>
                    <a:pt x="334086" y="1612"/>
                  </a:lnTo>
                  <a:lnTo>
                    <a:pt x="349034" y="8509"/>
                  </a:lnTo>
                  <a:lnTo>
                    <a:pt x="351790" y="10350"/>
                  </a:lnTo>
                  <a:lnTo>
                    <a:pt x="367626" y="31165"/>
                  </a:lnTo>
                  <a:lnTo>
                    <a:pt x="368896" y="34226"/>
                  </a:lnTo>
                  <a:lnTo>
                    <a:pt x="369862" y="37376"/>
                  </a:lnTo>
                  <a:lnTo>
                    <a:pt x="370497" y="40627"/>
                  </a:lnTo>
                  <a:lnTo>
                    <a:pt x="371157" y="43891"/>
                  </a:lnTo>
                  <a:lnTo>
                    <a:pt x="371475" y="47167"/>
                  </a:lnTo>
                  <a:lnTo>
                    <a:pt x="371475" y="50482"/>
                  </a:lnTo>
                  <a:lnTo>
                    <a:pt x="371475" y="320992"/>
                  </a:lnTo>
                  <a:lnTo>
                    <a:pt x="371475" y="324307"/>
                  </a:lnTo>
                  <a:lnTo>
                    <a:pt x="371157" y="327596"/>
                  </a:lnTo>
                  <a:lnTo>
                    <a:pt x="370497" y="330835"/>
                  </a:lnTo>
                  <a:lnTo>
                    <a:pt x="369862" y="334086"/>
                  </a:lnTo>
                  <a:lnTo>
                    <a:pt x="368896" y="337248"/>
                  </a:lnTo>
                  <a:lnTo>
                    <a:pt x="367626" y="340309"/>
                  </a:lnTo>
                  <a:lnTo>
                    <a:pt x="366356" y="343369"/>
                  </a:lnTo>
                  <a:lnTo>
                    <a:pt x="349034" y="362966"/>
                  </a:lnTo>
                  <a:lnTo>
                    <a:pt x="346278" y="364807"/>
                  </a:lnTo>
                  <a:lnTo>
                    <a:pt x="343369" y="366356"/>
                  </a:lnTo>
                  <a:lnTo>
                    <a:pt x="340309" y="367626"/>
                  </a:lnTo>
                  <a:lnTo>
                    <a:pt x="337248" y="368896"/>
                  </a:lnTo>
                  <a:lnTo>
                    <a:pt x="334086" y="369862"/>
                  </a:lnTo>
                  <a:lnTo>
                    <a:pt x="330835" y="370509"/>
                  </a:lnTo>
                  <a:lnTo>
                    <a:pt x="327596" y="371144"/>
                  </a:lnTo>
                  <a:lnTo>
                    <a:pt x="324307" y="371475"/>
                  </a:lnTo>
                  <a:lnTo>
                    <a:pt x="320992" y="371475"/>
                  </a:lnTo>
                  <a:lnTo>
                    <a:pt x="50482" y="371475"/>
                  </a:lnTo>
                  <a:lnTo>
                    <a:pt x="47167" y="371475"/>
                  </a:lnTo>
                  <a:lnTo>
                    <a:pt x="43878" y="371157"/>
                  </a:lnTo>
                  <a:lnTo>
                    <a:pt x="40640" y="370509"/>
                  </a:lnTo>
                  <a:lnTo>
                    <a:pt x="37376" y="369862"/>
                  </a:lnTo>
                  <a:lnTo>
                    <a:pt x="34226" y="368896"/>
                  </a:lnTo>
                  <a:lnTo>
                    <a:pt x="31165" y="367626"/>
                  </a:lnTo>
                  <a:lnTo>
                    <a:pt x="28105" y="366356"/>
                  </a:lnTo>
                  <a:lnTo>
                    <a:pt x="2578" y="337248"/>
                  </a:lnTo>
                  <a:lnTo>
                    <a:pt x="965" y="330835"/>
                  </a:lnTo>
                  <a:lnTo>
                    <a:pt x="317" y="327596"/>
                  </a:lnTo>
                  <a:lnTo>
                    <a:pt x="0" y="324307"/>
                  </a:lnTo>
                  <a:lnTo>
                    <a:pt x="0" y="320992"/>
                  </a:lnTo>
                  <a:close/>
                </a:path>
              </a:pathLst>
            </a:custGeom>
            <a:ln w="19050">
              <a:solidFill>
                <a:srgbClr val="002A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661923" y="4134992"/>
            <a:ext cx="19304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EBEDF0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107364" y="4154489"/>
            <a:ext cx="2675890" cy="1064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0" b="1">
                <a:solidFill>
                  <a:srgbClr val="EBEDF0"/>
                </a:solidFill>
                <a:latin typeface="Tahoma"/>
                <a:cs typeface="Tahoma"/>
              </a:rPr>
              <a:t>Strategic</a:t>
            </a:r>
            <a:r>
              <a:rPr dirty="0" sz="1650" spc="-100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BEDF0"/>
                </a:solidFill>
                <a:latin typeface="Tahoma"/>
                <a:cs typeface="Tahoma"/>
              </a:rPr>
              <a:t>Balance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08800"/>
              </a:lnSpc>
              <a:spcBef>
                <a:spcPts val="880"/>
              </a:spcBef>
            </a:pP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Review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BEDF0"/>
                </a:solidFill>
                <a:latin typeface="Verdana"/>
                <a:cs typeface="Verdana"/>
              </a:rPr>
              <a:t>discount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BEDF0"/>
                </a:solidFill>
                <a:latin typeface="Verdana"/>
                <a:cs typeface="Verdana"/>
              </a:rPr>
              <a:t>policy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BEDF0"/>
                </a:solidFill>
                <a:latin typeface="Verdana"/>
                <a:cs typeface="Verdana"/>
              </a:rPr>
              <a:t>to </a:t>
            </a:r>
            <a:r>
              <a:rPr dirty="0" sz="1350" spc="-85">
                <a:solidFill>
                  <a:srgbClr val="EBEDF0"/>
                </a:solidFill>
                <a:latin typeface="Verdana"/>
                <a:cs typeface="Verdana"/>
              </a:rPr>
              <a:t>maintain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profitability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BEDF0"/>
                </a:solidFill>
                <a:latin typeface="Verdana"/>
                <a:cs typeface="Verdana"/>
              </a:rPr>
              <a:t>while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BEDF0"/>
                </a:solidFill>
                <a:latin typeface="Verdana"/>
                <a:cs typeface="Verdana"/>
              </a:rPr>
              <a:t>driving </a:t>
            </a:r>
            <a:r>
              <a:rPr dirty="0" sz="1350" spc="-10">
                <a:solidFill>
                  <a:srgbClr val="EBEDF0"/>
                </a:solidFill>
                <a:latin typeface="Verdana"/>
                <a:cs typeface="Verdana"/>
              </a:rPr>
              <a:t>sales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7" name="object 17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201150" cy="6440805"/>
          </a:xfrm>
          <a:custGeom>
            <a:avLst/>
            <a:gdLst/>
            <a:ahLst/>
            <a:cxnLst/>
            <a:rect l="l" t="t" r="r" b="b"/>
            <a:pathLst>
              <a:path w="9201150" h="6440805">
                <a:moveTo>
                  <a:pt x="9200605" y="0"/>
                </a:moveTo>
                <a:lnTo>
                  <a:pt x="0" y="0"/>
                </a:lnTo>
                <a:lnTo>
                  <a:pt x="0" y="6440424"/>
                </a:lnTo>
                <a:lnTo>
                  <a:pt x="9200605" y="6440424"/>
                </a:lnTo>
                <a:lnTo>
                  <a:pt x="9200605" y="0"/>
                </a:lnTo>
                <a:close/>
              </a:path>
            </a:pathLst>
          </a:custGeom>
          <a:solidFill>
            <a:srgbClr val="0F151F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0331" y="370658"/>
            <a:ext cx="5341620" cy="44005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700" spc="-20"/>
              <a:t>Age</a:t>
            </a:r>
            <a:r>
              <a:rPr dirty="0" sz="2700" spc="-254"/>
              <a:t> </a:t>
            </a:r>
            <a:r>
              <a:rPr dirty="0" sz="2700" spc="-100"/>
              <a:t>Group</a:t>
            </a:r>
            <a:r>
              <a:rPr dirty="0" sz="2700" spc="-254"/>
              <a:t> </a:t>
            </a:r>
            <a:r>
              <a:rPr dirty="0" sz="2700" spc="-105"/>
              <a:t>Revenue</a:t>
            </a:r>
            <a:r>
              <a:rPr dirty="0" sz="2700" spc="-250"/>
              <a:t> </a:t>
            </a:r>
            <a:r>
              <a:rPr dirty="0" sz="2700" spc="-60"/>
              <a:t>Contribution</a:t>
            </a:r>
            <a:endParaRPr sz="2700"/>
          </a:p>
        </p:txBody>
      </p:sp>
      <p:grpSp>
        <p:nvGrpSpPr>
          <p:cNvPr id="4" name="object 4" descr=""/>
          <p:cNvGrpSpPr/>
          <p:nvPr/>
        </p:nvGrpSpPr>
        <p:grpSpPr>
          <a:xfrm>
            <a:off x="1365287" y="1214372"/>
            <a:ext cx="7358380" cy="4264660"/>
            <a:chOff x="1365287" y="1214372"/>
            <a:chExt cx="7358380" cy="4264660"/>
          </a:xfrm>
        </p:grpSpPr>
        <p:sp>
          <p:nvSpPr>
            <p:cNvPr id="5" name="object 5" descr=""/>
            <p:cNvSpPr/>
            <p:nvPr/>
          </p:nvSpPr>
          <p:spPr>
            <a:xfrm>
              <a:off x="1441418" y="5467359"/>
              <a:ext cx="7276465" cy="0"/>
            </a:xfrm>
            <a:custGeom>
              <a:avLst/>
              <a:gdLst/>
              <a:ahLst/>
              <a:cxnLst/>
              <a:rect l="l" t="t" r="r" b="b"/>
              <a:pathLst>
                <a:path w="7276465" h="0">
                  <a:moveTo>
                    <a:pt x="0" y="0"/>
                  </a:moveTo>
                  <a:lnTo>
                    <a:pt x="7276125" y="0"/>
                  </a:lnTo>
                </a:path>
              </a:pathLst>
            </a:custGeom>
            <a:ln w="10834">
              <a:solidFill>
                <a:srgbClr val="EBE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441418" y="4047992"/>
              <a:ext cx="7276465" cy="0"/>
            </a:xfrm>
            <a:custGeom>
              <a:avLst/>
              <a:gdLst/>
              <a:ahLst/>
              <a:cxnLst/>
              <a:rect l="l" t="t" r="r" b="b"/>
              <a:pathLst>
                <a:path w="7276465" h="0">
                  <a:moveTo>
                    <a:pt x="0" y="0"/>
                  </a:moveTo>
                  <a:lnTo>
                    <a:pt x="7276125" y="0"/>
                  </a:lnTo>
                </a:path>
              </a:pathLst>
            </a:custGeom>
            <a:ln w="10834">
              <a:solidFill>
                <a:srgbClr val="EBE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441418" y="2639453"/>
              <a:ext cx="7276465" cy="0"/>
            </a:xfrm>
            <a:custGeom>
              <a:avLst/>
              <a:gdLst/>
              <a:ahLst/>
              <a:cxnLst/>
              <a:rect l="l" t="t" r="r" b="b"/>
              <a:pathLst>
                <a:path w="7276465" h="0">
                  <a:moveTo>
                    <a:pt x="0" y="0"/>
                  </a:moveTo>
                  <a:lnTo>
                    <a:pt x="7276125" y="0"/>
                  </a:lnTo>
                </a:path>
              </a:pathLst>
            </a:custGeom>
            <a:ln w="10834">
              <a:solidFill>
                <a:srgbClr val="EBE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441418" y="1220087"/>
              <a:ext cx="7276465" cy="0"/>
            </a:xfrm>
            <a:custGeom>
              <a:avLst/>
              <a:gdLst/>
              <a:ahLst/>
              <a:cxnLst/>
              <a:rect l="l" t="t" r="r" b="b"/>
              <a:pathLst>
                <a:path w="7276465" h="0">
                  <a:moveTo>
                    <a:pt x="0" y="0"/>
                  </a:moveTo>
                  <a:lnTo>
                    <a:pt x="7276125" y="0"/>
                  </a:lnTo>
                </a:path>
              </a:pathLst>
            </a:custGeom>
            <a:ln w="10834">
              <a:solidFill>
                <a:srgbClr val="EBE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948299" y="1946020"/>
              <a:ext cx="1183005" cy="3517265"/>
            </a:xfrm>
            <a:custGeom>
              <a:avLst/>
              <a:gdLst/>
              <a:ahLst/>
              <a:cxnLst/>
              <a:rect l="l" t="t" r="r" b="b"/>
              <a:pathLst>
                <a:path w="1183005" h="3517265">
                  <a:moveTo>
                    <a:pt x="1132103" y="0"/>
                  </a:moveTo>
                  <a:lnTo>
                    <a:pt x="54171" y="0"/>
                  </a:lnTo>
                  <a:lnTo>
                    <a:pt x="50613" y="0"/>
                  </a:lnTo>
                  <a:lnTo>
                    <a:pt x="47096" y="347"/>
                  </a:lnTo>
                  <a:lnTo>
                    <a:pt x="13351" y="18390"/>
                  </a:lnTo>
                  <a:lnTo>
                    <a:pt x="0" y="50623"/>
                  </a:lnTo>
                  <a:lnTo>
                    <a:pt x="0" y="3517007"/>
                  </a:lnTo>
                  <a:lnTo>
                    <a:pt x="1182727" y="3517007"/>
                  </a:lnTo>
                  <a:lnTo>
                    <a:pt x="1182727" y="50623"/>
                  </a:lnTo>
                  <a:lnTo>
                    <a:pt x="1164346" y="13361"/>
                  </a:lnTo>
                  <a:lnTo>
                    <a:pt x="1135630" y="347"/>
                  </a:lnTo>
                  <a:lnTo>
                    <a:pt x="1132103" y="0"/>
                  </a:lnTo>
                  <a:close/>
                </a:path>
              </a:pathLst>
            </a:custGeom>
            <a:solidFill>
              <a:srgbClr val="0050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637909" y="2119379"/>
              <a:ext cx="1183005" cy="3343910"/>
            </a:xfrm>
            <a:custGeom>
              <a:avLst/>
              <a:gdLst/>
              <a:ahLst/>
              <a:cxnLst/>
              <a:rect l="l" t="t" r="r" b="b"/>
              <a:pathLst>
                <a:path w="1183004" h="3343910">
                  <a:moveTo>
                    <a:pt x="1132114" y="0"/>
                  </a:moveTo>
                  <a:lnTo>
                    <a:pt x="54171" y="0"/>
                  </a:lnTo>
                  <a:lnTo>
                    <a:pt x="50613" y="0"/>
                  </a:lnTo>
                  <a:lnTo>
                    <a:pt x="47096" y="347"/>
                  </a:lnTo>
                  <a:lnTo>
                    <a:pt x="13351" y="18390"/>
                  </a:lnTo>
                  <a:lnTo>
                    <a:pt x="0" y="50623"/>
                  </a:lnTo>
                  <a:lnTo>
                    <a:pt x="0" y="3343647"/>
                  </a:lnTo>
                  <a:lnTo>
                    <a:pt x="1182727" y="3343647"/>
                  </a:lnTo>
                  <a:lnTo>
                    <a:pt x="1182727" y="50623"/>
                  </a:lnTo>
                  <a:lnTo>
                    <a:pt x="1164346" y="13351"/>
                  </a:lnTo>
                  <a:lnTo>
                    <a:pt x="1135630" y="347"/>
                  </a:lnTo>
                  <a:lnTo>
                    <a:pt x="1132114" y="0"/>
                  </a:lnTo>
                  <a:close/>
                </a:path>
              </a:pathLst>
            </a:custGeom>
            <a:solidFill>
              <a:srgbClr val="317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327518" y="2292739"/>
              <a:ext cx="1183005" cy="3170555"/>
            </a:xfrm>
            <a:custGeom>
              <a:avLst/>
              <a:gdLst/>
              <a:ahLst/>
              <a:cxnLst/>
              <a:rect l="l" t="t" r="r" b="b"/>
              <a:pathLst>
                <a:path w="1183004" h="3170554">
                  <a:moveTo>
                    <a:pt x="1132114" y="0"/>
                  </a:moveTo>
                  <a:lnTo>
                    <a:pt x="54171" y="0"/>
                  </a:lnTo>
                  <a:lnTo>
                    <a:pt x="50623" y="0"/>
                  </a:lnTo>
                  <a:lnTo>
                    <a:pt x="47096" y="347"/>
                  </a:lnTo>
                  <a:lnTo>
                    <a:pt x="13351" y="18380"/>
                  </a:lnTo>
                  <a:lnTo>
                    <a:pt x="0" y="50623"/>
                  </a:lnTo>
                  <a:lnTo>
                    <a:pt x="0" y="3170287"/>
                  </a:lnTo>
                  <a:lnTo>
                    <a:pt x="1182727" y="3170287"/>
                  </a:lnTo>
                  <a:lnTo>
                    <a:pt x="1182727" y="50623"/>
                  </a:lnTo>
                  <a:lnTo>
                    <a:pt x="1164346" y="13351"/>
                  </a:lnTo>
                  <a:lnTo>
                    <a:pt x="1135630" y="347"/>
                  </a:lnTo>
                  <a:lnTo>
                    <a:pt x="1132114" y="0"/>
                  </a:lnTo>
                  <a:close/>
                </a:path>
              </a:pathLst>
            </a:custGeom>
            <a:solidFill>
              <a:srgbClr val="6E9D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017128" y="2303576"/>
              <a:ext cx="1183005" cy="3159760"/>
            </a:xfrm>
            <a:custGeom>
              <a:avLst/>
              <a:gdLst/>
              <a:ahLst/>
              <a:cxnLst/>
              <a:rect l="l" t="t" r="r" b="b"/>
              <a:pathLst>
                <a:path w="1183004" h="3159760">
                  <a:moveTo>
                    <a:pt x="1132103" y="0"/>
                  </a:moveTo>
                  <a:lnTo>
                    <a:pt x="54181" y="0"/>
                  </a:lnTo>
                  <a:lnTo>
                    <a:pt x="50613" y="0"/>
                  </a:lnTo>
                  <a:lnTo>
                    <a:pt x="47096" y="347"/>
                  </a:lnTo>
                  <a:lnTo>
                    <a:pt x="13351" y="18380"/>
                  </a:lnTo>
                  <a:lnTo>
                    <a:pt x="0" y="50613"/>
                  </a:lnTo>
                  <a:lnTo>
                    <a:pt x="0" y="3159451"/>
                  </a:lnTo>
                  <a:lnTo>
                    <a:pt x="1182727" y="3159451"/>
                  </a:lnTo>
                  <a:lnTo>
                    <a:pt x="1182727" y="50613"/>
                  </a:lnTo>
                  <a:lnTo>
                    <a:pt x="1164346" y="13351"/>
                  </a:lnTo>
                  <a:lnTo>
                    <a:pt x="1135630" y="347"/>
                  </a:lnTo>
                  <a:lnTo>
                    <a:pt x="1132103" y="0"/>
                  </a:lnTo>
                  <a:close/>
                </a:path>
              </a:pathLst>
            </a:custGeom>
            <a:solidFill>
              <a:srgbClr val="A9C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76400" y="5467359"/>
              <a:ext cx="65405" cy="0"/>
            </a:xfrm>
            <a:custGeom>
              <a:avLst/>
              <a:gdLst/>
              <a:ahLst/>
              <a:cxnLst/>
              <a:rect l="l" t="t" r="r" b="b"/>
              <a:pathLst>
                <a:path w="65405" h="0">
                  <a:moveTo>
                    <a:pt x="65017" y="0"/>
                  </a:moveTo>
                  <a:lnTo>
                    <a:pt x="0" y="0"/>
                  </a:lnTo>
                </a:path>
              </a:pathLst>
            </a:custGeom>
            <a:ln w="21669">
              <a:solidFill>
                <a:srgbClr val="EBED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899226" y="5353047"/>
            <a:ext cx="44704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0">
                <a:solidFill>
                  <a:srgbClr val="EBEDF0"/>
                </a:solidFill>
                <a:latin typeface="Verdana"/>
                <a:cs typeface="Verdana"/>
              </a:rPr>
              <a:t>$0.00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376400" y="4047992"/>
            <a:ext cx="65405" cy="0"/>
          </a:xfrm>
          <a:custGeom>
            <a:avLst/>
            <a:gdLst/>
            <a:ahLst/>
            <a:cxnLst/>
            <a:rect l="l" t="t" r="r" b="b"/>
            <a:pathLst>
              <a:path w="65405" h="0">
                <a:moveTo>
                  <a:pt x="65017" y="0"/>
                </a:moveTo>
                <a:lnTo>
                  <a:pt x="0" y="0"/>
                </a:lnTo>
              </a:path>
            </a:pathLst>
          </a:custGeom>
          <a:ln w="21669">
            <a:solidFill>
              <a:srgbClr val="EBED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482203" y="3933664"/>
            <a:ext cx="8642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40">
                <a:solidFill>
                  <a:srgbClr val="EBEDF0"/>
                </a:solidFill>
                <a:latin typeface="Verdana"/>
                <a:cs typeface="Verdana"/>
              </a:rPr>
              <a:t>$25,000.00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376400" y="2639453"/>
            <a:ext cx="65405" cy="0"/>
          </a:xfrm>
          <a:custGeom>
            <a:avLst/>
            <a:gdLst/>
            <a:ahLst/>
            <a:cxnLst/>
            <a:rect l="l" t="t" r="r" b="b"/>
            <a:pathLst>
              <a:path w="65405" h="0">
                <a:moveTo>
                  <a:pt x="65017" y="0"/>
                </a:moveTo>
                <a:lnTo>
                  <a:pt x="0" y="0"/>
                </a:lnTo>
              </a:path>
            </a:pathLst>
          </a:custGeom>
          <a:ln w="21669">
            <a:solidFill>
              <a:srgbClr val="EBED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478610" y="2525062"/>
            <a:ext cx="86741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5">
                <a:solidFill>
                  <a:srgbClr val="EBEDF0"/>
                </a:solidFill>
                <a:latin typeface="Verdana"/>
                <a:cs typeface="Verdana"/>
              </a:rPr>
              <a:t>$50,000.00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376400" y="1220087"/>
            <a:ext cx="65405" cy="0"/>
          </a:xfrm>
          <a:custGeom>
            <a:avLst/>
            <a:gdLst/>
            <a:ahLst/>
            <a:cxnLst/>
            <a:rect l="l" t="t" r="r" b="b"/>
            <a:pathLst>
              <a:path w="65405" h="0">
                <a:moveTo>
                  <a:pt x="65017" y="0"/>
                </a:moveTo>
                <a:lnTo>
                  <a:pt x="0" y="0"/>
                </a:lnTo>
              </a:path>
            </a:pathLst>
          </a:custGeom>
          <a:ln w="21669">
            <a:solidFill>
              <a:srgbClr val="EBED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496580" y="1105797"/>
            <a:ext cx="8496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0">
                <a:solidFill>
                  <a:srgbClr val="EBEDF0"/>
                </a:solidFill>
                <a:latin typeface="Verdana"/>
                <a:cs typeface="Verdana"/>
              </a:rPr>
              <a:t>$75,000.00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430305" y="1214392"/>
            <a:ext cx="4500245" cy="4324985"/>
            <a:chOff x="1430305" y="1214392"/>
            <a:chExt cx="4500245" cy="4324985"/>
          </a:xfrm>
        </p:grpSpPr>
        <p:sp>
          <p:nvSpPr>
            <p:cNvPr id="22" name="object 22" descr=""/>
            <p:cNvSpPr/>
            <p:nvPr/>
          </p:nvSpPr>
          <p:spPr>
            <a:xfrm>
              <a:off x="1441418" y="1225505"/>
              <a:ext cx="0" cy="4243070"/>
            </a:xfrm>
            <a:custGeom>
              <a:avLst/>
              <a:gdLst/>
              <a:ahLst/>
              <a:cxnLst/>
              <a:rect l="l" t="t" r="r" b="b"/>
              <a:pathLst>
                <a:path w="0" h="4243070">
                  <a:moveTo>
                    <a:pt x="0" y="4242936"/>
                  </a:moveTo>
                  <a:lnTo>
                    <a:pt x="0" y="0"/>
                  </a:lnTo>
                </a:path>
              </a:pathLst>
            </a:custGeom>
            <a:ln w="21669">
              <a:solidFill>
                <a:srgbClr val="EBE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539653" y="5463027"/>
              <a:ext cx="3379470" cy="65405"/>
            </a:xfrm>
            <a:custGeom>
              <a:avLst/>
              <a:gdLst/>
              <a:ahLst/>
              <a:cxnLst/>
              <a:rect l="l" t="t" r="r" b="b"/>
              <a:pathLst>
                <a:path w="3379470" h="65404">
                  <a:moveTo>
                    <a:pt x="0" y="0"/>
                  </a:moveTo>
                  <a:lnTo>
                    <a:pt x="0" y="65007"/>
                  </a:lnTo>
                </a:path>
                <a:path w="3379470" h="65404">
                  <a:moveTo>
                    <a:pt x="1689609" y="0"/>
                  </a:moveTo>
                  <a:lnTo>
                    <a:pt x="1689609" y="65007"/>
                  </a:lnTo>
                </a:path>
                <a:path w="3379470" h="65404">
                  <a:moveTo>
                    <a:pt x="3379208" y="0"/>
                  </a:moveTo>
                  <a:lnTo>
                    <a:pt x="3379208" y="65007"/>
                  </a:lnTo>
                </a:path>
              </a:pathLst>
            </a:custGeom>
            <a:ln w="21669">
              <a:solidFill>
                <a:srgbClr val="EBED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2110912" y="5515268"/>
            <a:ext cx="40049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80210" algn="l"/>
                <a:tab pos="3623310" algn="l"/>
              </a:tabLst>
            </a:pPr>
            <a:r>
              <a:rPr dirty="0" sz="1200" spc="-90">
                <a:solidFill>
                  <a:srgbClr val="EBEDF0"/>
                </a:solidFill>
                <a:latin typeface="Verdana"/>
                <a:cs typeface="Verdana"/>
              </a:rPr>
              <a:t>Young </a:t>
            </a:r>
            <a:r>
              <a:rPr dirty="0" sz="1200" spc="-10">
                <a:solidFill>
                  <a:srgbClr val="EBEDF0"/>
                </a:solidFill>
                <a:latin typeface="Verdana"/>
                <a:cs typeface="Verdana"/>
              </a:rPr>
              <a:t>Adult</a:t>
            </a:r>
            <a:r>
              <a:rPr dirty="0" sz="1200">
                <a:solidFill>
                  <a:srgbClr val="EBEDF0"/>
                </a:solidFill>
                <a:latin typeface="Verdana"/>
                <a:cs typeface="Verdana"/>
              </a:rPr>
              <a:t>	</a:t>
            </a:r>
            <a:r>
              <a:rPr dirty="0" sz="1200" spc="-50">
                <a:solidFill>
                  <a:srgbClr val="EBEDF0"/>
                </a:solidFill>
                <a:latin typeface="Verdana"/>
                <a:cs typeface="Verdana"/>
              </a:rPr>
              <a:t>Middle-</a:t>
            </a:r>
            <a:r>
              <a:rPr dirty="0" sz="1200" spc="-20">
                <a:solidFill>
                  <a:srgbClr val="EBEDF0"/>
                </a:solidFill>
                <a:latin typeface="Verdana"/>
                <a:cs typeface="Verdana"/>
              </a:rPr>
              <a:t>aged</a:t>
            </a:r>
            <a:r>
              <a:rPr dirty="0" sz="1200">
                <a:solidFill>
                  <a:srgbClr val="EBEDF0"/>
                </a:solidFill>
                <a:latin typeface="Verdana"/>
                <a:cs typeface="Verdana"/>
              </a:rPr>
              <a:t>	</a:t>
            </a:r>
            <a:r>
              <a:rPr dirty="0" sz="1200" spc="-45">
                <a:solidFill>
                  <a:srgbClr val="EBEDF0"/>
                </a:solidFill>
                <a:latin typeface="Verdana"/>
                <a:cs typeface="Verdana"/>
              </a:rPr>
              <a:t>Adult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7608471" y="5463027"/>
            <a:ext cx="0" cy="65405"/>
          </a:xfrm>
          <a:custGeom>
            <a:avLst/>
            <a:gdLst/>
            <a:ahLst/>
            <a:cxnLst/>
            <a:rect l="l" t="t" r="r" b="b"/>
            <a:pathLst>
              <a:path w="0" h="65404">
                <a:moveTo>
                  <a:pt x="0" y="0"/>
                </a:moveTo>
                <a:lnTo>
                  <a:pt x="0" y="65007"/>
                </a:lnTo>
              </a:path>
            </a:pathLst>
          </a:custGeom>
          <a:ln w="21669">
            <a:solidFill>
              <a:srgbClr val="EBED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7371981" y="5515268"/>
            <a:ext cx="4730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5">
                <a:solidFill>
                  <a:srgbClr val="EBEDF0"/>
                </a:solidFill>
                <a:latin typeface="Verdana"/>
                <a:cs typeface="Verdana"/>
              </a:rPr>
              <a:t>Senior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1446825" y="5463027"/>
            <a:ext cx="7265670" cy="0"/>
          </a:xfrm>
          <a:custGeom>
            <a:avLst/>
            <a:gdLst/>
            <a:ahLst/>
            <a:cxnLst/>
            <a:rect l="l" t="t" r="r" b="b"/>
            <a:pathLst>
              <a:path w="7265670" h="0">
                <a:moveTo>
                  <a:pt x="0" y="0"/>
                </a:moveTo>
                <a:lnTo>
                  <a:pt x="7265299" y="0"/>
                </a:lnTo>
              </a:path>
            </a:pathLst>
          </a:custGeom>
          <a:ln w="21669">
            <a:solidFill>
              <a:srgbClr val="EBED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470053" y="5860353"/>
            <a:ext cx="5394960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-55">
                <a:solidFill>
                  <a:srgbClr val="EBEDF0"/>
                </a:solidFill>
                <a:latin typeface="Verdana"/>
                <a:cs typeface="Verdana"/>
              </a:rPr>
              <a:t>Young</a:t>
            </a:r>
            <a:r>
              <a:rPr dirty="0" sz="1050" spc="-6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EBEDF0"/>
                </a:solidFill>
                <a:latin typeface="Verdana"/>
                <a:cs typeface="Verdana"/>
              </a:rPr>
              <a:t>adults</a:t>
            </a:r>
            <a:r>
              <a:rPr dirty="0" sz="1050" spc="-5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EBEDF0"/>
                </a:solidFill>
                <a:latin typeface="Verdana"/>
                <a:cs typeface="Verdana"/>
              </a:rPr>
              <a:t>lead</a:t>
            </a:r>
            <a:r>
              <a:rPr dirty="0" sz="1050" spc="-5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050" spc="-60">
                <a:solidFill>
                  <a:srgbClr val="EBEDF0"/>
                </a:solidFill>
                <a:latin typeface="Verdana"/>
                <a:cs typeface="Verdana"/>
              </a:rPr>
              <a:t>revenue</a:t>
            </a:r>
            <a:r>
              <a:rPr dirty="0" sz="1050" spc="-5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EBEDF0"/>
                </a:solidFill>
                <a:latin typeface="Verdana"/>
                <a:cs typeface="Verdana"/>
              </a:rPr>
              <a:t>generation</a:t>
            </a:r>
            <a:r>
              <a:rPr dirty="0" sz="1050" spc="-5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EBEDF0"/>
                </a:solidFill>
                <a:latin typeface="Verdana"/>
                <a:cs typeface="Verdana"/>
              </a:rPr>
              <a:t>with</a:t>
            </a:r>
            <a:r>
              <a:rPr dirty="0" sz="1050" spc="-5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EBEDF0"/>
                </a:solidFill>
                <a:latin typeface="Verdana"/>
                <a:cs typeface="Verdana"/>
              </a:rPr>
              <a:t>balanced</a:t>
            </a:r>
            <a:r>
              <a:rPr dirty="0" sz="1050" spc="-5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050" spc="-40">
                <a:solidFill>
                  <a:srgbClr val="EBEDF0"/>
                </a:solidFill>
                <a:latin typeface="Verdana"/>
                <a:cs typeface="Verdana"/>
              </a:rPr>
              <a:t>contribution</a:t>
            </a:r>
            <a:r>
              <a:rPr dirty="0" sz="1050" spc="-6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050" spc="-25">
                <a:solidFill>
                  <a:srgbClr val="EBEDF0"/>
                </a:solidFill>
                <a:latin typeface="Verdana"/>
                <a:cs typeface="Verdana"/>
              </a:rPr>
              <a:t>across</a:t>
            </a:r>
            <a:r>
              <a:rPr dirty="0" sz="1050" spc="-5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EBEDF0"/>
                </a:solidFill>
                <a:latin typeface="Verdana"/>
                <a:cs typeface="Verdana"/>
              </a:rPr>
              <a:t>all</a:t>
            </a:r>
            <a:r>
              <a:rPr dirty="0" sz="1050" spc="-5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EBEDF0"/>
                </a:solidFill>
                <a:latin typeface="Verdana"/>
                <a:cs typeface="Verdana"/>
              </a:rPr>
              <a:t>segments</a:t>
            </a:r>
            <a:endParaRPr sz="1050">
              <a:latin typeface="Verdana"/>
              <a:cs typeface="Verdana"/>
            </a:endParaRPr>
          </a:p>
        </p:txBody>
      </p:sp>
      <p:pic>
        <p:nvPicPr>
          <p:cNvPr id="29" name="object 29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1640" y="6026396"/>
            <a:ext cx="1412292" cy="3373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37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2692400"/>
            <a:ext cx="57886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50"/>
              <a:t>Strategic</a:t>
            </a:r>
            <a:r>
              <a:rPr dirty="0" spc="-280"/>
              <a:t> </a:t>
            </a:r>
            <a:r>
              <a:rPr dirty="0" spc="-95"/>
              <a:t>Recommendations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600075" y="3514725"/>
            <a:ext cx="5029200" cy="990600"/>
            <a:chOff x="600075" y="3514725"/>
            <a:chExt cx="5029200" cy="990600"/>
          </a:xfrm>
        </p:grpSpPr>
        <p:sp>
          <p:nvSpPr>
            <p:cNvPr id="5" name="object 5" descr=""/>
            <p:cNvSpPr/>
            <p:nvPr/>
          </p:nvSpPr>
          <p:spPr>
            <a:xfrm>
              <a:off x="609600" y="3524250"/>
              <a:ext cx="5010150" cy="971550"/>
            </a:xfrm>
            <a:custGeom>
              <a:avLst/>
              <a:gdLst/>
              <a:ahLst/>
              <a:cxnLst/>
              <a:rect l="l" t="t" r="r" b="b"/>
              <a:pathLst>
                <a:path w="5010150" h="971550">
                  <a:moveTo>
                    <a:pt x="5010150" y="0"/>
                  </a:moveTo>
                  <a:lnTo>
                    <a:pt x="333375" y="0"/>
                  </a:lnTo>
                  <a:lnTo>
                    <a:pt x="325190" y="100"/>
                  </a:lnTo>
                  <a:lnTo>
                    <a:pt x="284459" y="3609"/>
                  </a:lnTo>
                  <a:lnTo>
                    <a:pt x="244461" y="12074"/>
                  </a:lnTo>
                  <a:lnTo>
                    <a:pt x="205799" y="25374"/>
                  </a:lnTo>
                  <a:lnTo>
                    <a:pt x="169052" y="43308"/>
                  </a:lnTo>
                  <a:lnTo>
                    <a:pt x="134784" y="65606"/>
                  </a:lnTo>
                  <a:lnTo>
                    <a:pt x="103500" y="91927"/>
                  </a:lnTo>
                  <a:lnTo>
                    <a:pt x="75674" y="121881"/>
                  </a:lnTo>
                  <a:lnTo>
                    <a:pt x="51718" y="155020"/>
                  </a:lnTo>
                  <a:lnTo>
                    <a:pt x="32006" y="190836"/>
                  </a:lnTo>
                  <a:lnTo>
                    <a:pt x="16826" y="228797"/>
                  </a:lnTo>
                  <a:lnTo>
                    <a:pt x="6404" y="268338"/>
                  </a:lnTo>
                  <a:lnTo>
                    <a:pt x="904" y="308848"/>
                  </a:lnTo>
                  <a:lnTo>
                    <a:pt x="0" y="333375"/>
                  </a:lnTo>
                  <a:lnTo>
                    <a:pt x="0" y="971550"/>
                  </a:lnTo>
                  <a:lnTo>
                    <a:pt x="4676775" y="971550"/>
                  </a:lnTo>
                  <a:lnTo>
                    <a:pt x="4684959" y="971450"/>
                  </a:lnTo>
                  <a:lnTo>
                    <a:pt x="4725693" y="967938"/>
                  </a:lnTo>
                  <a:lnTo>
                    <a:pt x="4765686" y="959475"/>
                  </a:lnTo>
                  <a:lnTo>
                    <a:pt x="4804346" y="946175"/>
                  </a:lnTo>
                  <a:lnTo>
                    <a:pt x="4841094" y="928236"/>
                  </a:lnTo>
                  <a:lnTo>
                    <a:pt x="4875363" y="905946"/>
                  </a:lnTo>
                  <a:lnTo>
                    <a:pt x="4906654" y="879616"/>
                  </a:lnTo>
                  <a:lnTo>
                    <a:pt x="4934470" y="849668"/>
                  </a:lnTo>
                  <a:lnTo>
                    <a:pt x="4958430" y="816529"/>
                  </a:lnTo>
                  <a:lnTo>
                    <a:pt x="4978139" y="780711"/>
                  </a:lnTo>
                  <a:lnTo>
                    <a:pt x="4993324" y="742752"/>
                  </a:lnTo>
                  <a:lnTo>
                    <a:pt x="5003749" y="703211"/>
                  </a:lnTo>
                  <a:lnTo>
                    <a:pt x="5009249" y="662695"/>
                  </a:lnTo>
                  <a:lnTo>
                    <a:pt x="5010150" y="638175"/>
                  </a:lnTo>
                  <a:lnTo>
                    <a:pt x="5010150" y="0"/>
                  </a:lnTo>
                  <a:close/>
                </a:path>
              </a:pathLst>
            </a:custGeom>
            <a:solidFill>
              <a:srgbClr val="0F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09600" y="3524250"/>
              <a:ext cx="5010150" cy="971550"/>
            </a:xfrm>
            <a:custGeom>
              <a:avLst/>
              <a:gdLst/>
              <a:ahLst/>
              <a:cxnLst/>
              <a:rect l="l" t="t" r="r" b="b"/>
              <a:pathLst>
                <a:path w="5010150" h="971550">
                  <a:moveTo>
                    <a:pt x="0" y="971550"/>
                  </a:moveTo>
                  <a:lnTo>
                    <a:pt x="0" y="333375"/>
                  </a:lnTo>
                  <a:lnTo>
                    <a:pt x="100" y="325188"/>
                  </a:lnTo>
                  <a:lnTo>
                    <a:pt x="3607" y="284460"/>
                  </a:lnTo>
                  <a:lnTo>
                    <a:pt x="12077" y="244463"/>
                  </a:lnTo>
                  <a:lnTo>
                    <a:pt x="25374" y="205790"/>
                  </a:lnTo>
                  <a:lnTo>
                    <a:pt x="43309" y="169055"/>
                  </a:lnTo>
                  <a:lnTo>
                    <a:pt x="65604" y="134781"/>
                  </a:lnTo>
                  <a:lnTo>
                    <a:pt x="91926" y="103495"/>
                  </a:lnTo>
                  <a:lnTo>
                    <a:pt x="121885" y="75666"/>
                  </a:lnTo>
                  <a:lnTo>
                    <a:pt x="155023" y="51719"/>
                  </a:lnTo>
                  <a:lnTo>
                    <a:pt x="190838" y="32004"/>
                  </a:lnTo>
                  <a:lnTo>
                    <a:pt x="228799" y="16825"/>
                  </a:lnTo>
                  <a:lnTo>
                    <a:pt x="268337" y="6400"/>
                  </a:lnTo>
                  <a:lnTo>
                    <a:pt x="308853" y="900"/>
                  </a:lnTo>
                  <a:lnTo>
                    <a:pt x="333375" y="0"/>
                  </a:lnTo>
                  <a:lnTo>
                    <a:pt x="5010150" y="0"/>
                  </a:lnTo>
                  <a:lnTo>
                    <a:pt x="5010150" y="638175"/>
                  </a:lnTo>
                  <a:lnTo>
                    <a:pt x="5010050" y="646359"/>
                  </a:lnTo>
                  <a:lnTo>
                    <a:pt x="5006540" y="687093"/>
                  </a:lnTo>
                  <a:lnTo>
                    <a:pt x="4998075" y="727086"/>
                  </a:lnTo>
                  <a:lnTo>
                    <a:pt x="4984775" y="765746"/>
                  </a:lnTo>
                  <a:lnTo>
                    <a:pt x="4966836" y="802494"/>
                  </a:lnTo>
                  <a:lnTo>
                    <a:pt x="4944541" y="836768"/>
                  </a:lnTo>
                  <a:lnTo>
                    <a:pt x="4918227" y="868047"/>
                  </a:lnTo>
                  <a:lnTo>
                    <a:pt x="4888268" y="895870"/>
                  </a:lnTo>
                  <a:lnTo>
                    <a:pt x="4855129" y="919830"/>
                  </a:lnTo>
                  <a:lnTo>
                    <a:pt x="4819311" y="939544"/>
                  </a:lnTo>
                  <a:lnTo>
                    <a:pt x="4781352" y="954724"/>
                  </a:lnTo>
                  <a:lnTo>
                    <a:pt x="4741811" y="965136"/>
                  </a:lnTo>
                  <a:lnTo>
                    <a:pt x="4701295" y="970649"/>
                  </a:lnTo>
                  <a:lnTo>
                    <a:pt x="4676775" y="971550"/>
                  </a:lnTo>
                  <a:lnTo>
                    <a:pt x="0" y="971550"/>
                  </a:lnTo>
                  <a:close/>
                </a:path>
              </a:pathLst>
            </a:custGeom>
            <a:ln w="19050">
              <a:solidFill>
                <a:srgbClr val="002A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77875" y="3687762"/>
            <a:ext cx="429006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EBEDF0"/>
                </a:solidFill>
                <a:latin typeface="Tahoma"/>
                <a:cs typeface="Tahoma"/>
              </a:rPr>
              <a:t>Boost</a:t>
            </a:r>
            <a:r>
              <a:rPr dirty="0" sz="1650" spc="-135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BEDF0"/>
                </a:solidFill>
                <a:latin typeface="Tahoma"/>
                <a:cs typeface="Tahoma"/>
              </a:rPr>
              <a:t>Subscriptions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75">
                <a:solidFill>
                  <a:srgbClr val="EBEDF0"/>
                </a:solidFill>
                <a:latin typeface="Verdana"/>
                <a:cs typeface="Verdana"/>
              </a:rPr>
              <a:t>Promote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exclusive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BEDF0"/>
                </a:solidFill>
                <a:latin typeface="Verdana"/>
                <a:cs typeface="Verdana"/>
              </a:rPr>
              <a:t>benefits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BEDF0"/>
                </a:solidFill>
                <a:latin typeface="Verdana"/>
                <a:cs typeface="Verdana"/>
              </a:rPr>
              <a:t>to</a:t>
            </a:r>
            <a:r>
              <a:rPr dirty="0" sz="1350" spc="-7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convert </a:t>
            </a:r>
            <a:r>
              <a:rPr dirty="0" sz="1350" spc="-65">
                <a:solidFill>
                  <a:srgbClr val="EBEDF0"/>
                </a:solidFill>
                <a:latin typeface="Verdana"/>
                <a:cs typeface="Verdana"/>
              </a:rPr>
              <a:t>non-</a:t>
            </a:r>
            <a:r>
              <a:rPr dirty="0" sz="1350" spc="-35">
                <a:solidFill>
                  <a:srgbClr val="EBEDF0"/>
                </a:solidFill>
                <a:latin typeface="Verdana"/>
                <a:cs typeface="Verdana"/>
              </a:rPr>
              <a:t>subscribers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800725" y="3514725"/>
            <a:ext cx="5029200" cy="990600"/>
            <a:chOff x="5800725" y="3514725"/>
            <a:chExt cx="5029200" cy="990600"/>
          </a:xfrm>
        </p:grpSpPr>
        <p:sp>
          <p:nvSpPr>
            <p:cNvPr id="9" name="object 9" descr=""/>
            <p:cNvSpPr/>
            <p:nvPr/>
          </p:nvSpPr>
          <p:spPr>
            <a:xfrm>
              <a:off x="5810250" y="3524250"/>
              <a:ext cx="5010150" cy="971550"/>
            </a:xfrm>
            <a:custGeom>
              <a:avLst/>
              <a:gdLst/>
              <a:ahLst/>
              <a:cxnLst/>
              <a:rect l="l" t="t" r="r" b="b"/>
              <a:pathLst>
                <a:path w="5010150" h="971550">
                  <a:moveTo>
                    <a:pt x="5010150" y="0"/>
                  </a:moveTo>
                  <a:lnTo>
                    <a:pt x="333375" y="0"/>
                  </a:lnTo>
                  <a:lnTo>
                    <a:pt x="325190" y="100"/>
                  </a:lnTo>
                  <a:lnTo>
                    <a:pt x="284456" y="3609"/>
                  </a:lnTo>
                  <a:lnTo>
                    <a:pt x="244463" y="12074"/>
                  </a:lnTo>
                  <a:lnTo>
                    <a:pt x="205803" y="25374"/>
                  </a:lnTo>
                  <a:lnTo>
                    <a:pt x="169055" y="43308"/>
                  </a:lnTo>
                  <a:lnTo>
                    <a:pt x="134786" y="65606"/>
                  </a:lnTo>
                  <a:lnTo>
                    <a:pt x="103495" y="91927"/>
                  </a:lnTo>
                  <a:lnTo>
                    <a:pt x="75679" y="121881"/>
                  </a:lnTo>
                  <a:lnTo>
                    <a:pt x="51719" y="155020"/>
                  </a:lnTo>
                  <a:lnTo>
                    <a:pt x="32005" y="190836"/>
                  </a:lnTo>
                  <a:lnTo>
                    <a:pt x="16825" y="228797"/>
                  </a:lnTo>
                  <a:lnTo>
                    <a:pt x="6400" y="268338"/>
                  </a:lnTo>
                  <a:lnTo>
                    <a:pt x="905" y="308848"/>
                  </a:lnTo>
                  <a:lnTo>
                    <a:pt x="0" y="333375"/>
                  </a:lnTo>
                  <a:lnTo>
                    <a:pt x="0" y="971550"/>
                  </a:lnTo>
                  <a:lnTo>
                    <a:pt x="4676775" y="971550"/>
                  </a:lnTo>
                  <a:lnTo>
                    <a:pt x="4684961" y="971450"/>
                  </a:lnTo>
                  <a:lnTo>
                    <a:pt x="4725693" y="967938"/>
                  </a:lnTo>
                  <a:lnTo>
                    <a:pt x="4765686" y="959475"/>
                  </a:lnTo>
                  <a:lnTo>
                    <a:pt x="4804346" y="946175"/>
                  </a:lnTo>
                  <a:lnTo>
                    <a:pt x="4841094" y="928236"/>
                  </a:lnTo>
                  <a:lnTo>
                    <a:pt x="4875363" y="905946"/>
                  </a:lnTo>
                  <a:lnTo>
                    <a:pt x="4906647" y="879616"/>
                  </a:lnTo>
                  <a:lnTo>
                    <a:pt x="4934470" y="849668"/>
                  </a:lnTo>
                  <a:lnTo>
                    <a:pt x="4958430" y="816529"/>
                  </a:lnTo>
                  <a:lnTo>
                    <a:pt x="4978144" y="780711"/>
                  </a:lnTo>
                  <a:lnTo>
                    <a:pt x="4993324" y="742752"/>
                  </a:lnTo>
                  <a:lnTo>
                    <a:pt x="5003749" y="703211"/>
                  </a:lnTo>
                  <a:lnTo>
                    <a:pt x="5009244" y="662695"/>
                  </a:lnTo>
                  <a:lnTo>
                    <a:pt x="5010150" y="638175"/>
                  </a:lnTo>
                  <a:lnTo>
                    <a:pt x="5010150" y="0"/>
                  </a:lnTo>
                  <a:close/>
                </a:path>
              </a:pathLst>
            </a:custGeom>
            <a:solidFill>
              <a:srgbClr val="0F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810250" y="3524250"/>
              <a:ext cx="5010150" cy="971550"/>
            </a:xfrm>
            <a:custGeom>
              <a:avLst/>
              <a:gdLst/>
              <a:ahLst/>
              <a:cxnLst/>
              <a:rect l="l" t="t" r="r" b="b"/>
              <a:pathLst>
                <a:path w="5010150" h="971550">
                  <a:moveTo>
                    <a:pt x="0" y="971550"/>
                  </a:moveTo>
                  <a:lnTo>
                    <a:pt x="0" y="333375"/>
                  </a:lnTo>
                  <a:lnTo>
                    <a:pt x="100" y="325188"/>
                  </a:lnTo>
                  <a:lnTo>
                    <a:pt x="3611" y="284460"/>
                  </a:lnTo>
                  <a:lnTo>
                    <a:pt x="12074" y="244463"/>
                  </a:lnTo>
                  <a:lnTo>
                    <a:pt x="25374" y="205790"/>
                  </a:lnTo>
                  <a:lnTo>
                    <a:pt x="43313" y="169055"/>
                  </a:lnTo>
                  <a:lnTo>
                    <a:pt x="65608" y="134781"/>
                  </a:lnTo>
                  <a:lnTo>
                    <a:pt x="91922" y="103495"/>
                  </a:lnTo>
                  <a:lnTo>
                    <a:pt x="121881" y="75666"/>
                  </a:lnTo>
                  <a:lnTo>
                    <a:pt x="155020" y="51719"/>
                  </a:lnTo>
                  <a:lnTo>
                    <a:pt x="190838" y="32004"/>
                  </a:lnTo>
                  <a:lnTo>
                    <a:pt x="228797" y="16825"/>
                  </a:lnTo>
                  <a:lnTo>
                    <a:pt x="268338" y="6400"/>
                  </a:lnTo>
                  <a:lnTo>
                    <a:pt x="308854" y="900"/>
                  </a:lnTo>
                  <a:lnTo>
                    <a:pt x="333375" y="0"/>
                  </a:lnTo>
                  <a:lnTo>
                    <a:pt x="5010150" y="0"/>
                  </a:lnTo>
                  <a:lnTo>
                    <a:pt x="5010150" y="638175"/>
                  </a:lnTo>
                  <a:lnTo>
                    <a:pt x="5010049" y="646359"/>
                  </a:lnTo>
                  <a:lnTo>
                    <a:pt x="5006538" y="687093"/>
                  </a:lnTo>
                  <a:lnTo>
                    <a:pt x="4998075" y="727086"/>
                  </a:lnTo>
                  <a:lnTo>
                    <a:pt x="4984775" y="765746"/>
                  </a:lnTo>
                  <a:lnTo>
                    <a:pt x="4966836" y="802494"/>
                  </a:lnTo>
                  <a:lnTo>
                    <a:pt x="4944541" y="836768"/>
                  </a:lnTo>
                  <a:lnTo>
                    <a:pt x="4918222" y="868047"/>
                  </a:lnTo>
                  <a:lnTo>
                    <a:pt x="4888268" y="895870"/>
                  </a:lnTo>
                  <a:lnTo>
                    <a:pt x="4855129" y="919830"/>
                  </a:lnTo>
                  <a:lnTo>
                    <a:pt x="4819311" y="939544"/>
                  </a:lnTo>
                  <a:lnTo>
                    <a:pt x="4781352" y="954724"/>
                  </a:lnTo>
                  <a:lnTo>
                    <a:pt x="4741811" y="965136"/>
                  </a:lnTo>
                  <a:lnTo>
                    <a:pt x="4701301" y="970649"/>
                  </a:lnTo>
                  <a:lnTo>
                    <a:pt x="4676775" y="971550"/>
                  </a:lnTo>
                  <a:lnTo>
                    <a:pt x="0" y="971550"/>
                  </a:lnTo>
                  <a:close/>
                </a:path>
              </a:pathLst>
            </a:custGeom>
            <a:ln w="19050">
              <a:solidFill>
                <a:srgbClr val="002A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978525" y="3687762"/>
            <a:ext cx="3872229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5" b="1">
                <a:solidFill>
                  <a:srgbClr val="EBEDF0"/>
                </a:solidFill>
                <a:latin typeface="Tahoma"/>
                <a:cs typeface="Tahoma"/>
              </a:rPr>
              <a:t>Loyalty</a:t>
            </a:r>
            <a:r>
              <a:rPr dirty="0" sz="1650" spc="-135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BEDF0"/>
                </a:solidFill>
                <a:latin typeface="Tahoma"/>
                <a:cs typeface="Tahoma"/>
              </a:rPr>
              <a:t>Programs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75">
                <a:solidFill>
                  <a:srgbClr val="EBEDF0"/>
                </a:solidFill>
                <a:latin typeface="Verdana"/>
                <a:cs typeface="Verdana"/>
              </a:rPr>
              <a:t>Reward</a:t>
            </a:r>
            <a:r>
              <a:rPr dirty="0" sz="1350" spc="-10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BEDF0"/>
                </a:solidFill>
                <a:latin typeface="Verdana"/>
                <a:cs typeface="Verdana"/>
              </a:rPr>
              <a:t>repeat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BEDF0"/>
                </a:solidFill>
                <a:latin typeface="Verdana"/>
                <a:cs typeface="Verdana"/>
              </a:rPr>
              <a:t>buyers</a:t>
            </a:r>
            <a:r>
              <a:rPr dirty="0" sz="1350" spc="-10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BEDF0"/>
                </a:solidFill>
                <a:latin typeface="Verdana"/>
                <a:cs typeface="Verdana"/>
              </a:rPr>
              <a:t>to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strengthen</a:t>
            </a:r>
            <a:r>
              <a:rPr dirty="0" sz="1350" spc="-10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BEDF0"/>
                </a:solidFill>
                <a:latin typeface="Verdana"/>
                <a:cs typeface="Verdana"/>
              </a:rPr>
              <a:t>engagement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00075" y="4676775"/>
            <a:ext cx="5029200" cy="1200150"/>
            <a:chOff x="600075" y="4676775"/>
            <a:chExt cx="5029200" cy="1200150"/>
          </a:xfrm>
        </p:grpSpPr>
        <p:sp>
          <p:nvSpPr>
            <p:cNvPr id="13" name="object 13" descr=""/>
            <p:cNvSpPr/>
            <p:nvPr/>
          </p:nvSpPr>
          <p:spPr>
            <a:xfrm>
              <a:off x="609600" y="4686300"/>
              <a:ext cx="5010150" cy="1181100"/>
            </a:xfrm>
            <a:custGeom>
              <a:avLst/>
              <a:gdLst/>
              <a:ahLst/>
              <a:cxnLst/>
              <a:rect l="l" t="t" r="r" b="b"/>
              <a:pathLst>
                <a:path w="5010150" h="1181100">
                  <a:moveTo>
                    <a:pt x="5010150" y="0"/>
                  </a:moveTo>
                  <a:lnTo>
                    <a:pt x="333375" y="0"/>
                  </a:lnTo>
                  <a:lnTo>
                    <a:pt x="325190" y="100"/>
                  </a:lnTo>
                  <a:lnTo>
                    <a:pt x="284459" y="3609"/>
                  </a:lnTo>
                  <a:lnTo>
                    <a:pt x="244461" y="12074"/>
                  </a:lnTo>
                  <a:lnTo>
                    <a:pt x="205799" y="25374"/>
                  </a:lnTo>
                  <a:lnTo>
                    <a:pt x="169052" y="43313"/>
                  </a:lnTo>
                  <a:lnTo>
                    <a:pt x="134784" y="65606"/>
                  </a:lnTo>
                  <a:lnTo>
                    <a:pt x="103500" y="91927"/>
                  </a:lnTo>
                  <a:lnTo>
                    <a:pt x="75674" y="121881"/>
                  </a:lnTo>
                  <a:lnTo>
                    <a:pt x="51718" y="155020"/>
                  </a:lnTo>
                  <a:lnTo>
                    <a:pt x="32006" y="190836"/>
                  </a:lnTo>
                  <a:lnTo>
                    <a:pt x="16826" y="228797"/>
                  </a:lnTo>
                  <a:lnTo>
                    <a:pt x="6404" y="268338"/>
                  </a:lnTo>
                  <a:lnTo>
                    <a:pt x="904" y="308848"/>
                  </a:lnTo>
                  <a:lnTo>
                    <a:pt x="0" y="333375"/>
                  </a:lnTo>
                  <a:lnTo>
                    <a:pt x="0" y="1181101"/>
                  </a:lnTo>
                  <a:lnTo>
                    <a:pt x="4676775" y="1181101"/>
                  </a:lnTo>
                  <a:lnTo>
                    <a:pt x="4684959" y="1181000"/>
                  </a:lnTo>
                  <a:lnTo>
                    <a:pt x="4725693" y="1177490"/>
                  </a:lnTo>
                  <a:lnTo>
                    <a:pt x="4765686" y="1169023"/>
                  </a:lnTo>
                  <a:lnTo>
                    <a:pt x="4804346" y="1155720"/>
                  </a:lnTo>
                  <a:lnTo>
                    <a:pt x="4841094" y="1137786"/>
                  </a:lnTo>
                  <a:lnTo>
                    <a:pt x="4875363" y="1115491"/>
                  </a:lnTo>
                  <a:lnTo>
                    <a:pt x="4906654" y="1089170"/>
                  </a:lnTo>
                  <a:lnTo>
                    <a:pt x="4934470" y="1059215"/>
                  </a:lnTo>
                  <a:lnTo>
                    <a:pt x="4958430" y="1026076"/>
                  </a:lnTo>
                  <a:lnTo>
                    <a:pt x="4978139" y="990258"/>
                  </a:lnTo>
                  <a:lnTo>
                    <a:pt x="4993324" y="952301"/>
                  </a:lnTo>
                  <a:lnTo>
                    <a:pt x="5003749" y="912764"/>
                  </a:lnTo>
                  <a:lnTo>
                    <a:pt x="5009249" y="872245"/>
                  </a:lnTo>
                  <a:lnTo>
                    <a:pt x="5010150" y="847726"/>
                  </a:lnTo>
                  <a:lnTo>
                    <a:pt x="5010150" y="0"/>
                  </a:lnTo>
                  <a:close/>
                </a:path>
              </a:pathLst>
            </a:custGeom>
            <a:solidFill>
              <a:srgbClr val="0F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09600" y="4686300"/>
              <a:ext cx="5010150" cy="1181100"/>
            </a:xfrm>
            <a:custGeom>
              <a:avLst/>
              <a:gdLst/>
              <a:ahLst/>
              <a:cxnLst/>
              <a:rect l="l" t="t" r="r" b="b"/>
              <a:pathLst>
                <a:path w="5010150" h="1181100">
                  <a:moveTo>
                    <a:pt x="0" y="1181101"/>
                  </a:moveTo>
                  <a:lnTo>
                    <a:pt x="0" y="333375"/>
                  </a:lnTo>
                  <a:lnTo>
                    <a:pt x="100" y="325188"/>
                  </a:lnTo>
                  <a:lnTo>
                    <a:pt x="3607" y="284460"/>
                  </a:lnTo>
                  <a:lnTo>
                    <a:pt x="12077" y="244463"/>
                  </a:lnTo>
                  <a:lnTo>
                    <a:pt x="25374" y="205790"/>
                  </a:lnTo>
                  <a:lnTo>
                    <a:pt x="43309" y="169055"/>
                  </a:lnTo>
                  <a:lnTo>
                    <a:pt x="65604" y="134781"/>
                  </a:lnTo>
                  <a:lnTo>
                    <a:pt x="91926" y="103495"/>
                  </a:lnTo>
                  <a:lnTo>
                    <a:pt x="121885" y="75666"/>
                  </a:lnTo>
                  <a:lnTo>
                    <a:pt x="155023" y="51719"/>
                  </a:lnTo>
                  <a:lnTo>
                    <a:pt x="190838" y="32005"/>
                  </a:lnTo>
                  <a:lnTo>
                    <a:pt x="228799" y="16825"/>
                  </a:lnTo>
                  <a:lnTo>
                    <a:pt x="268337" y="6400"/>
                  </a:lnTo>
                  <a:lnTo>
                    <a:pt x="308853" y="900"/>
                  </a:lnTo>
                  <a:lnTo>
                    <a:pt x="333375" y="0"/>
                  </a:lnTo>
                  <a:lnTo>
                    <a:pt x="5010150" y="0"/>
                  </a:lnTo>
                  <a:lnTo>
                    <a:pt x="5010150" y="847726"/>
                  </a:lnTo>
                  <a:lnTo>
                    <a:pt x="5010050" y="855909"/>
                  </a:lnTo>
                  <a:lnTo>
                    <a:pt x="5006540" y="896640"/>
                  </a:lnTo>
                  <a:lnTo>
                    <a:pt x="4998075" y="936637"/>
                  </a:lnTo>
                  <a:lnTo>
                    <a:pt x="4984775" y="975301"/>
                  </a:lnTo>
                  <a:lnTo>
                    <a:pt x="4966836" y="1012044"/>
                  </a:lnTo>
                  <a:lnTo>
                    <a:pt x="4944541" y="1046314"/>
                  </a:lnTo>
                  <a:lnTo>
                    <a:pt x="4918227" y="1077597"/>
                  </a:lnTo>
                  <a:lnTo>
                    <a:pt x="4888268" y="1105427"/>
                  </a:lnTo>
                  <a:lnTo>
                    <a:pt x="4855129" y="1129377"/>
                  </a:lnTo>
                  <a:lnTo>
                    <a:pt x="4819311" y="1149090"/>
                  </a:lnTo>
                  <a:lnTo>
                    <a:pt x="4781352" y="1164271"/>
                  </a:lnTo>
                  <a:lnTo>
                    <a:pt x="4741811" y="1174691"/>
                  </a:lnTo>
                  <a:lnTo>
                    <a:pt x="4701295" y="1180196"/>
                  </a:lnTo>
                  <a:lnTo>
                    <a:pt x="4676775" y="1181101"/>
                  </a:lnTo>
                  <a:lnTo>
                    <a:pt x="0" y="1181101"/>
                  </a:lnTo>
                  <a:close/>
                </a:path>
              </a:pathLst>
            </a:custGeom>
            <a:ln w="19050">
              <a:solidFill>
                <a:srgbClr val="002A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77875" y="4849812"/>
            <a:ext cx="352552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 b="1">
                <a:solidFill>
                  <a:srgbClr val="EBEDF0"/>
                </a:solidFill>
                <a:latin typeface="Tahoma"/>
                <a:cs typeface="Tahoma"/>
              </a:rPr>
              <a:t>Optimize</a:t>
            </a:r>
            <a:r>
              <a:rPr dirty="0" sz="1650" spc="-114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BEDF0"/>
                </a:solidFill>
                <a:latin typeface="Tahoma"/>
                <a:cs typeface="Tahoma"/>
              </a:rPr>
              <a:t>Discounts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55">
                <a:solidFill>
                  <a:srgbClr val="EBEDF0"/>
                </a:solidFill>
                <a:latin typeface="Verdana"/>
                <a:cs typeface="Verdana"/>
              </a:rPr>
              <a:t>Balance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BEDF0"/>
                </a:solidFill>
                <a:latin typeface="Verdana"/>
                <a:cs typeface="Verdana"/>
              </a:rPr>
              <a:t>sales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BEDF0"/>
                </a:solidFill>
                <a:latin typeface="Verdana"/>
                <a:cs typeface="Verdana"/>
              </a:rPr>
              <a:t>growth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BEDF0"/>
                </a:solidFill>
                <a:latin typeface="Verdana"/>
                <a:cs typeface="Verdana"/>
              </a:rPr>
              <a:t>with</a:t>
            </a:r>
            <a:r>
              <a:rPr dirty="0" sz="1350" spc="-10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margin </a:t>
            </a:r>
            <a:r>
              <a:rPr dirty="0" sz="1350" spc="-40">
                <a:solidFill>
                  <a:srgbClr val="EBEDF0"/>
                </a:solidFill>
                <a:latin typeface="Verdana"/>
                <a:cs typeface="Verdana"/>
              </a:rPr>
              <a:t>protection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800725" y="4676775"/>
            <a:ext cx="5029200" cy="1200150"/>
            <a:chOff x="5800725" y="4676775"/>
            <a:chExt cx="5029200" cy="1200150"/>
          </a:xfrm>
        </p:grpSpPr>
        <p:sp>
          <p:nvSpPr>
            <p:cNvPr id="17" name="object 17" descr=""/>
            <p:cNvSpPr/>
            <p:nvPr/>
          </p:nvSpPr>
          <p:spPr>
            <a:xfrm>
              <a:off x="5810250" y="4686300"/>
              <a:ext cx="5010150" cy="1181100"/>
            </a:xfrm>
            <a:custGeom>
              <a:avLst/>
              <a:gdLst/>
              <a:ahLst/>
              <a:cxnLst/>
              <a:rect l="l" t="t" r="r" b="b"/>
              <a:pathLst>
                <a:path w="5010150" h="1181100">
                  <a:moveTo>
                    <a:pt x="5010150" y="0"/>
                  </a:moveTo>
                  <a:lnTo>
                    <a:pt x="333375" y="0"/>
                  </a:lnTo>
                  <a:lnTo>
                    <a:pt x="325190" y="100"/>
                  </a:lnTo>
                  <a:lnTo>
                    <a:pt x="284456" y="3609"/>
                  </a:lnTo>
                  <a:lnTo>
                    <a:pt x="244463" y="12074"/>
                  </a:lnTo>
                  <a:lnTo>
                    <a:pt x="205803" y="25374"/>
                  </a:lnTo>
                  <a:lnTo>
                    <a:pt x="169055" y="43313"/>
                  </a:lnTo>
                  <a:lnTo>
                    <a:pt x="134786" y="65606"/>
                  </a:lnTo>
                  <a:lnTo>
                    <a:pt x="103495" y="91927"/>
                  </a:lnTo>
                  <a:lnTo>
                    <a:pt x="75679" y="121881"/>
                  </a:lnTo>
                  <a:lnTo>
                    <a:pt x="51719" y="155020"/>
                  </a:lnTo>
                  <a:lnTo>
                    <a:pt x="32005" y="190836"/>
                  </a:lnTo>
                  <a:lnTo>
                    <a:pt x="16825" y="228797"/>
                  </a:lnTo>
                  <a:lnTo>
                    <a:pt x="6400" y="268338"/>
                  </a:lnTo>
                  <a:lnTo>
                    <a:pt x="905" y="308848"/>
                  </a:lnTo>
                  <a:lnTo>
                    <a:pt x="0" y="333375"/>
                  </a:lnTo>
                  <a:lnTo>
                    <a:pt x="0" y="1181101"/>
                  </a:lnTo>
                  <a:lnTo>
                    <a:pt x="4676775" y="1181101"/>
                  </a:lnTo>
                  <a:lnTo>
                    <a:pt x="4684961" y="1181000"/>
                  </a:lnTo>
                  <a:lnTo>
                    <a:pt x="4725693" y="1177490"/>
                  </a:lnTo>
                  <a:lnTo>
                    <a:pt x="4765686" y="1169023"/>
                  </a:lnTo>
                  <a:lnTo>
                    <a:pt x="4804346" y="1155720"/>
                  </a:lnTo>
                  <a:lnTo>
                    <a:pt x="4841094" y="1137786"/>
                  </a:lnTo>
                  <a:lnTo>
                    <a:pt x="4875363" y="1115491"/>
                  </a:lnTo>
                  <a:lnTo>
                    <a:pt x="4906647" y="1089170"/>
                  </a:lnTo>
                  <a:lnTo>
                    <a:pt x="4934470" y="1059215"/>
                  </a:lnTo>
                  <a:lnTo>
                    <a:pt x="4958430" y="1026076"/>
                  </a:lnTo>
                  <a:lnTo>
                    <a:pt x="4978144" y="990258"/>
                  </a:lnTo>
                  <a:lnTo>
                    <a:pt x="4993324" y="952301"/>
                  </a:lnTo>
                  <a:lnTo>
                    <a:pt x="5003749" y="912764"/>
                  </a:lnTo>
                  <a:lnTo>
                    <a:pt x="5009244" y="872245"/>
                  </a:lnTo>
                  <a:lnTo>
                    <a:pt x="5010150" y="847726"/>
                  </a:lnTo>
                  <a:lnTo>
                    <a:pt x="5010150" y="0"/>
                  </a:lnTo>
                  <a:close/>
                </a:path>
              </a:pathLst>
            </a:custGeom>
            <a:solidFill>
              <a:srgbClr val="0F15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810250" y="4686300"/>
              <a:ext cx="5010150" cy="1181100"/>
            </a:xfrm>
            <a:custGeom>
              <a:avLst/>
              <a:gdLst/>
              <a:ahLst/>
              <a:cxnLst/>
              <a:rect l="l" t="t" r="r" b="b"/>
              <a:pathLst>
                <a:path w="5010150" h="1181100">
                  <a:moveTo>
                    <a:pt x="0" y="1181101"/>
                  </a:moveTo>
                  <a:lnTo>
                    <a:pt x="0" y="333375"/>
                  </a:lnTo>
                  <a:lnTo>
                    <a:pt x="100" y="325188"/>
                  </a:lnTo>
                  <a:lnTo>
                    <a:pt x="3611" y="284460"/>
                  </a:lnTo>
                  <a:lnTo>
                    <a:pt x="12074" y="244463"/>
                  </a:lnTo>
                  <a:lnTo>
                    <a:pt x="25374" y="205790"/>
                  </a:lnTo>
                  <a:lnTo>
                    <a:pt x="43313" y="169055"/>
                  </a:lnTo>
                  <a:lnTo>
                    <a:pt x="65608" y="134781"/>
                  </a:lnTo>
                  <a:lnTo>
                    <a:pt x="91922" y="103495"/>
                  </a:lnTo>
                  <a:lnTo>
                    <a:pt x="121881" y="75666"/>
                  </a:lnTo>
                  <a:lnTo>
                    <a:pt x="155020" y="51719"/>
                  </a:lnTo>
                  <a:lnTo>
                    <a:pt x="190838" y="32005"/>
                  </a:lnTo>
                  <a:lnTo>
                    <a:pt x="228797" y="16825"/>
                  </a:lnTo>
                  <a:lnTo>
                    <a:pt x="268338" y="6400"/>
                  </a:lnTo>
                  <a:lnTo>
                    <a:pt x="308854" y="900"/>
                  </a:lnTo>
                  <a:lnTo>
                    <a:pt x="333375" y="0"/>
                  </a:lnTo>
                  <a:lnTo>
                    <a:pt x="5010150" y="0"/>
                  </a:lnTo>
                  <a:lnTo>
                    <a:pt x="5010150" y="847726"/>
                  </a:lnTo>
                  <a:lnTo>
                    <a:pt x="5010049" y="855909"/>
                  </a:lnTo>
                  <a:lnTo>
                    <a:pt x="5006538" y="896640"/>
                  </a:lnTo>
                  <a:lnTo>
                    <a:pt x="4998075" y="936637"/>
                  </a:lnTo>
                  <a:lnTo>
                    <a:pt x="4984775" y="975301"/>
                  </a:lnTo>
                  <a:lnTo>
                    <a:pt x="4966836" y="1012044"/>
                  </a:lnTo>
                  <a:lnTo>
                    <a:pt x="4944541" y="1046314"/>
                  </a:lnTo>
                  <a:lnTo>
                    <a:pt x="4918222" y="1077597"/>
                  </a:lnTo>
                  <a:lnTo>
                    <a:pt x="4888268" y="1105427"/>
                  </a:lnTo>
                  <a:lnTo>
                    <a:pt x="4855129" y="1129377"/>
                  </a:lnTo>
                  <a:lnTo>
                    <a:pt x="4819311" y="1149090"/>
                  </a:lnTo>
                  <a:lnTo>
                    <a:pt x="4781352" y="1164271"/>
                  </a:lnTo>
                  <a:lnTo>
                    <a:pt x="4741811" y="1174691"/>
                  </a:lnTo>
                  <a:lnTo>
                    <a:pt x="4701301" y="1180196"/>
                  </a:lnTo>
                  <a:lnTo>
                    <a:pt x="4676775" y="1181101"/>
                  </a:lnTo>
                  <a:lnTo>
                    <a:pt x="0" y="1181101"/>
                  </a:lnTo>
                  <a:close/>
                </a:path>
              </a:pathLst>
            </a:custGeom>
            <a:ln w="19050">
              <a:solidFill>
                <a:srgbClr val="002A7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5978525" y="4849812"/>
            <a:ext cx="4362450" cy="8362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0" b="1">
                <a:solidFill>
                  <a:srgbClr val="EBEDF0"/>
                </a:solidFill>
                <a:latin typeface="Tahoma"/>
                <a:cs typeface="Tahoma"/>
              </a:rPr>
              <a:t>Targeted</a:t>
            </a:r>
            <a:r>
              <a:rPr dirty="0" sz="1650" spc="-114" b="1">
                <a:solidFill>
                  <a:srgbClr val="EBEDF0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BEDF0"/>
                </a:solidFill>
                <a:latin typeface="Tahoma"/>
                <a:cs typeface="Tahoma"/>
              </a:rPr>
              <a:t>Marketing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06500"/>
              </a:lnSpc>
              <a:spcBef>
                <a:spcPts val="915"/>
              </a:spcBef>
            </a:pPr>
            <a:r>
              <a:rPr dirty="0" sz="1350" spc="-40">
                <a:solidFill>
                  <a:srgbClr val="EBEDF0"/>
                </a:solidFill>
                <a:latin typeface="Verdana"/>
                <a:cs typeface="Verdana"/>
              </a:rPr>
              <a:t>Focus</a:t>
            </a:r>
            <a:r>
              <a:rPr dirty="0" sz="1350" spc="-9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on</a:t>
            </a:r>
            <a:r>
              <a:rPr dirty="0" sz="1350" spc="-9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BEDF0"/>
                </a:solidFill>
                <a:latin typeface="Verdana"/>
                <a:cs typeface="Verdana"/>
              </a:rPr>
              <a:t>high-</a:t>
            </a:r>
            <a:r>
              <a:rPr dirty="0" sz="1350" spc="-95">
                <a:solidFill>
                  <a:srgbClr val="EBEDF0"/>
                </a:solidFill>
                <a:latin typeface="Verdana"/>
                <a:cs typeface="Verdana"/>
              </a:rPr>
              <a:t>revenue</a:t>
            </a:r>
            <a:r>
              <a:rPr dirty="0" sz="1350" spc="-85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BEDF0"/>
                </a:solidFill>
                <a:latin typeface="Verdana"/>
                <a:cs typeface="Verdana"/>
              </a:rPr>
              <a:t>segments</a:t>
            </a:r>
            <a:r>
              <a:rPr dirty="0" sz="1350" spc="-9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BEDF0"/>
                </a:solidFill>
                <a:latin typeface="Verdana"/>
                <a:cs typeface="Verdana"/>
              </a:rPr>
              <a:t>and</a:t>
            </a:r>
            <a:r>
              <a:rPr dirty="0" sz="1350" spc="-90">
                <a:solidFill>
                  <a:srgbClr val="EBEDF0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BEDF0"/>
                </a:solidFill>
                <a:latin typeface="Verdana"/>
                <a:cs typeface="Verdana"/>
              </a:rPr>
              <a:t>express-</a:t>
            </a:r>
            <a:r>
              <a:rPr dirty="0" sz="1350" spc="-30">
                <a:solidFill>
                  <a:srgbClr val="EBEDF0"/>
                </a:solidFill>
                <a:latin typeface="Verdana"/>
                <a:cs typeface="Verdana"/>
              </a:rPr>
              <a:t>shipping </a:t>
            </a:r>
            <a:r>
              <a:rPr dirty="0" sz="1350" spc="-10">
                <a:solidFill>
                  <a:srgbClr val="EBEDF0"/>
                </a:solidFill>
                <a:latin typeface="Verdana"/>
                <a:cs typeface="Verdana"/>
              </a:rPr>
              <a:t>users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0" name="object 20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2025-11-10T05:41:38Z</dcterms:created>
  <dcterms:modified xsi:type="dcterms:W3CDTF">2025-11-10T05:41:38Z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2025-11-10T00:00:00Z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2025-11-10T00:00:00Z</vt:filetime>
  </property>
  <property fmtid="{D5CDD505-2E9C-101B-9397-08002B2CF9AE}" pid="5" name="Producer">
    <vt:lpwstr>GPL Ghostscript 9.56.1</vt:lpwstr>
  </property>
</Properties>
</file>